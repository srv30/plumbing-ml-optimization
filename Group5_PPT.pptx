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2"/>
  </p:notesMasterIdLst>
  <p:sldIdLst>
    <p:sldId id="258" r:id="rId2"/>
    <p:sldId id="297" r:id="rId3"/>
    <p:sldId id="294" r:id="rId4"/>
    <p:sldId id="300" r:id="rId5"/>
    <p:sldId id="301" r:id="rId6"/>
    <p:sldId id="307" r:id="rId7"/>
    <p:sldId id="308" r:id="rId8"/>
    <p:sldId id="302" r:id="rId9"/>
    <p:sldId id="303" r:id="rId10"/>
    <p:sldId id="305" r:id="rId11"/>
    <p:sldId id="311" r:id="rId12"/>
    <p:sldId id="309" r:id="rId13"/>
    <p:sldId id="310" r:id="rId14"/>
    <p:sldId id="312" r:id="rId15"/>
    <p:sldId id="313" r:id="rId16"/>
    <p:sldId id="314" r:id="rId17"/>
    <p:sldId id="321" r:id="rId18"/>
    <p:sldId id="322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80A8"/>
    <a:srgbClr val="A6C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5D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0B3C5D"/>
                </a:solidFill>
                <a:latin typeface="Calibri"/>
              </a:rPr>
              <a:t>Sentiment (from star rating)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1D7A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8142</c:v>
                </c:pt>
                <c:pt idx="1">
                  <c:v>2901</c:v>
                </c:pt>
                <c:pt idx="2">
                  <c:v>1757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6B-4FAF-9654-1ED1EA7A45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55AD7-4596-4178-8C85-A2008CCE737E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7FEA6-D86A-465C-A660-9EF4F7169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7FEA6-D86A-465C-A660-9EF4F71695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920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353F-EF6D-B506-B639-6A7922C6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44149-7768-7BDF-FCD3-2B831B809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660FB-1B9C-704F-D428-9E26D7BA8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06B7A-0519-8A45-A5C2-F82738C8C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5461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F0784-0E70-D83B-4495-DC822B7E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1D856-3068-D860-CB53-8499051F7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1BE88-C10B-A159-78C5-3646D7938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ED57D-DB77-12C0-9986-E3533FCCC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150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32713-25B9-5AE4-3907-A6D25A853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31787-813B-EF5E-9D21-24D6458482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0A57B-47E4-759A-9D1E-0CFC8E430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7E41C-00EB-B732-9E1A-62B17C1C4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5272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BC5F-A5C4-661D-B16D-67E6CE13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470CA-D187-63FF-015B-1B6C13A4B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6885C-9A9A-DBBB-21D5-CD193A23F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66845-EC62-C8B6-F90E-81595E3C3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207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2A523-F5E1-454D-F35E-24C2D909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06687-5136-B66E-FEB6-C195FA442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66B21-0169-62E5-2529-9E8A1962D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5BA42-27D6-DDD5-F02E-B91308CF0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5666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4CE33-5B58-6173-CCDA-1A47C9BF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1F472-B4B9-0EC0-FDC3-851E9E38A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98B2C-31E8-8D6B-051D-C50A89112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8B3BD-BC29-A809-616D-3211B6E7C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0894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454BB-5ECE-C5D2-7CE2-0236AA6A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B36EE-A0E8-3518-F4D9-267E23B14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A00D7-2073-6039-4F3D-0E4AA9706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B0957-F3E1-2218-4776-348DD98E7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124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E941-A35D-F70A-5276-4A6809AD2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A0FA1-80BB-A707-B499-F210C1574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DF13D-1055-EDC0-9533-A8772B3DC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1A9F3-910B-CDCA-C69B-DD95EE2B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7465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08C1-FA9B-D1F1-F0AB-5A54D9B9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867EC-0311-1D2C-D17E-35BEE29AB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E5014-6AB6-769A-D289-7EB12E88B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33325-0B2B-AF64-6AAB-30EBEF537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8515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9B49-BF2F-CD70-EB8D-754541FF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B5117-FEE6-AE30-B310-EDE4E6FEA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D6934-19F0-2340-27A3-DBB8E123C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BE6FA-889D-F4F7-DC2C-DEBDED37C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29585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DBBB-A299-9EA4-B31A-79CDAC11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F3606-A4B5-400D-3D18-E1161E6F3F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E3ED5-1CAC-0D12-B335-DCBEB1D88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4084C-F7F3-92C6-6AC8-AD51660C5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5441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315A-ECAE-104A-5D2B-8042C61A3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4EC20-1FAA-A408-EF27-A0F165A2E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943BB-7E60-92A9-7488-3DB75A7B5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A72B0-A9BE-7137-2760-D47F0EE86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54859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D0CA-959D-6EE4-E2BF-05A9FBE7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D45FA-30B1-AF86-78AB-9F0CA0DE4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EF3D9-4FA8-EEBF-58C3-CBE498D6A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92D75-13DD-2F9E-F9A1-447714B44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72076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80DE-240B-82AB-4043-EF7EFB66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BD591-0E41-4863-9802-9F5677334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CF3CC-8293-FDBC-91A5-F07863F8E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D1BD9-CE9C-F7F4-87B0-FB7105751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7816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5E56-EFA2-DFB1-9927-FD52A557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5A230-6C6C-7562-5BB4-6A646B0BA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B692D-112C-0F74-3BB9-F0AF07BF7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82AD-EDFD-39BE-2CE4-1A42A583F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4144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3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49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5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26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02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99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98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52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21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52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9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271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4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44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4F8B9CE-E328-4B2B-9481-E48472D8F6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77337D-FFA8-44E5-8C73-D1242DA95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7904015" TargetMode="External"/><Relationship Id="rId2" Type="http://schemas.openxmlformats.org/officeDocument/2006/relationships/hyperlink" Target="https://github.com/SRV30/plumbing-ml-optimization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i.org/10.1002/net.22188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8CF9-56F9-9918-0979-675A60DB55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6348" y="273119"/>
            <a:ext cx="11161643" cy="2152029"/>
          </a:xfr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bliqueBottomRight"/>
            <a:lightRig rig="threePt" dir="t"/>
          </a:scene3d>
        </p:spPr>
        <p:txBody>
          <a:bodyPr>
            <a:normAutofit/>
          </a:bodyPr>
          <a:lstStyle/>
          <a:p>
            <a:pPr algn="ctr">
              <a:defRPr sz="3000"/>
            </a:pPr>
            <a:r>
              <a:rPr lang="en-US" b="1" cap="none" dirty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Arial Black" panose="020B0A04020102020204" pitchFamily="34" charset="0"/>
              </a:rPr>
              <a:t>Using ML improve Business of chains of plumbing services like Mr. rooter Plumbing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78467-6D90-449D-4254-E6D4F706E90C}"/>
              </a:ext>
            </a:extLst>
          </p:cNvPr>
          <p:cNvSpPr/>
          <p:nvPr/>
        </p:nvSpPr>
        <p:spPr>
          <a:xfrm>
            <a:off x="2933700" y="2539505"/>
            <a:ext cx="627530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Department of Computer Science &amp;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F3EBF6-4DA9-04B6-D002-698DF0D65203}"/>
              </a:ext>
            </a:extLst>
          </p:cNvPr>
          <p:cNvSpPr/>
          <p:nvPr/>
        </p:nvSpPr>
        <p:spPr>
          <a:xfrm>
            <a:off x="5017260" y="2905780"/>
            <a:ext cx="174759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US" sz="2800" b="1" i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Presented By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2FFF1-5B01-799E-825B-7D859F81D796}"/>
              </a:ext>
            </a:extLst>
          </p:cNvPr>
          <p:cNvSpPr/>
          <p:nvPr/>
        </p:nvSpPr>
        <p:spPr>
          <a:xfrm>
            <a:off x="3727174" y="3375522"/>
            <a:ext cx="3030282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Sahil Raj Verma</a:t>
            </a:r>
          </a:p>
          <a:p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Aditya Rai</a:t>
            </a:r>
          </a:p>
          <a:p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Sahi</a:t>
            </a: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l Gupta</a:t>
            </a:r>
          </a:p>
          <a:p>
            <a:r>
              <a:rPr lang="en-US" sz="20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Su</a:t>
            </a:r>
            <a:r>
              <a:rPr lang="en-US" sz="20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brant</a:t>
            </a: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 Kumar Dang</a:t>
            </a:r>
          </a:p>
          <a:p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Jitu Baro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50CB7E-7900-95E3-482C-304746C8BD72}"/>
              </a:ext>
            </a:extLst>
          </p:cNvPr>
          <p:cNvSpPr/>
          <p:nvPr/>
        </p:nvSpPr>
        <p:spPr>
          <a:xfrm>
            <a:off x="6315715" y="3375521"/>
            <a:ext cx="1268296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26535024</a:t>
            </a:r>
          </a:p>
          <a:p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26535001</a:t>
            </a:r>
          </a:p>
          <a:p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26535023</a:t>
            </a:r>
          </a:p>
          <a:p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25920036</a:t>
            </a:r>
          </a:p>
          <a:p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26535016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631B8-5B63-46EE-3DFC-59E69697520F}"/>
              </a:ext>
            </a:extLst>
          </p:cNvPr>
          <p:cNvSpPr txBox="1"/>
          <p:nvPr/>
        </p:nvSpPr>
        <p:spPr>
          <a:xfrm>
            <a:off x="1070113" y="5873535"/>
            <a:ext cx="3727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i="1" dirty="0">
                <a:latin typeface="Aparajita" panose="02020603050405020304" pitchFamily="18" charset="0"/>
                <a:cs typeface="Aparajita" panose="02020603050405020304" pitchFamily="18" charset="0"/>
              </a:rPr>
              <a:t>GUIDED BY</a:t>
            </a:r>
          </a:p>
          <a:p>
            <a:pPr>
              <a:buNone/>
            </a:pPr>
            <a:r>
              <a:rPr lang="en-IN" b="1" dirty="0"/>
              <a:t>Prof. Durga Toshniwal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0BC69-3CBC-4E50-B3FC-7162C9B7F13B}"/>
              </a:ext>
            </a:extLst>
          </p:cNvPr>
          <p:cNvSpPr txBox="1"/>
          <p:nvPr/>
        </p:nvSpPr>
        <p:spPr>
          <a:xfrm>
            <a:off x="7285383" y="6196701"/>
            <a:ext cx="383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IIT Roorkee· CSC - 505· 2026 - 27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506F4-726C-6366-8656-BA32CC682073}"/>
              </a:ext>
            </a:extLst>
          </p:cNvPr>
          <p:cNvSpPr txBox="1"/>
          <p:nvPr/>
        </p:nvSpPr>
        <p:spPr>
          <a:xfrm>
            <a:off x="4797287" y="5205180"/>
            <a:ext cx="372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Group No. : 5</a:t>
            </a:r>
          </a:p>
        </p:txBody>
      </p:sp>
    </p:spTree>
    <p:extLst>
      <p:ext uri="{BB962C8B-B14F-4D97-AF65-F5344CB8AC3E}">
        <p14:creationId xmlns:p14="http://schemas.microsoft.com/office/powerpoint/2010/main" val="226959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5879D-71DD-7EC3-64BB-68774B8F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1B9791-CA03-8EE4-6C64-7EFA418F6473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Individual Contributions and Responsibilities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DCF8E3-907F-9E62-AF12-DC885C7293BF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E28E63-3030-E2C1-04D4-635F6D1B2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067937"/>
              </p:ext>
            </p:extLst>
          </p:nvPr>
        </p:nvGraphicFramePr>
        <p:xfrm>
          <a:off x="530352" y="967252"/>
          <a:ext cx="11227638" cy="553293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742546">
                  <a:extLst>
                    <a:ext uri="{9D8B030D-6E8A-4147-A177-3AD203B41FA5}">
                      <a16:colId xmlns:a16="http://schemas.microsoft.com/office/drawing/2014/main" val="954391822"/>
                    </a:ext>
                  </a:extLst>
                </a:gridCol>
                <a:gridCol w="3742546">
                  <a:extLst>
                    <a:ext uri="{9D8B030D-6E8A-4147-A177-3AD203B41FA5}">
                      <a16:colId xmlns:a16="http://schemas.microsoft.com/office/drawing/2014/main" val="2330144858"/>
                    </a:ext>
                  </a:extLst>
                </a:gridCol>
                <a:gridCol w="3742546">
                  <a:extLst>
                    <a:ext uri="{9D8B030D-6E8A-4147-A177-3AD203B41FA5}">
                      <a16:colId xmlns:a16="http://schemas.microsoft.com/office/drawing/2014/main" val="4100779962"/>
                    </a:ext>
                  </a:extLst>
                </a:gridCol>
              </a:tblGrid>
              <a:tr h="493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Enrolment No.</a:t>
                      </a:r>
                    </a:p>
                  </a:txBody>
                  <a:tcPr marL="29388" marR="29388" marT="14694" marB="1469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Module and Contribution</a:t>
                      </a:r>
                    </a:p>
                  </a:txBody>
                  <a:tcPr marL="29388" marR="29388" marT="14694" marB="1469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rPr>
                        <a:t>PPT Slides</a:t>
                      </a:r>
                    </a:p>
                  </a:txBody>
                  <a:tcPr marL="29388" marR="29388" marT="14694" marB="14694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53972"/>
                  </a:ext>
                </a:extLst>
              </a:tr>
              <a:tr h="9557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26535001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the Plumbing Demand Forecasting module to estimate future service demand and evaluate forecasting performance against a baseline.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6, 7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97860"/>
                  </a:ext>
                </a:extLst>
              </a:tr>
              <a:tr h="108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26535023</a:t>
                      </a:r>
                    </a:p>
                  </a:txBody>
                  <a:tcPr marL="29388" marR="29388" marT="14694" marB="146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the Strategic Resource Optimization module to investigate cancellation risk and budget-constrained allocation of interventions.</a:t>
                      </a:r>
                    </a:p>
                  </a:txBody>
                  <a:tcPr marL="29388" marR="29388" marT="14694" marB="146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9</a:t>
                      </a:r>
                    </a:p>
                  </a:txBody>
                  <a:tcPr marL="29388" marR="29388" marT="14694" marB="14694" anchor="ctr"/>
                </a:tc>
                <a:extLst>
                  <a:ext uri="{0D108BD9-81ED-4DB2-BD59-A6C34878D82A}">
                    <a16:rowId xmlns:a16="http://schemas.microsoft.com/office/drawing/2014/main" val="1962049940"/>
                  </a:ext>
                </a:extLst>
              </a:tr>
              <a:tr h="9557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26535024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the Technician Scheduling and Duration Prediction module, including scheduling heuristics, duration prediction and schedule validation.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10, 11, 12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45408"/>
                  </a:ext>
                </a:extLst>
              </a:tr>
              <a:tr h="1086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25920036</a:t>
                      </a:r>
                    </a:p>
                  </a:txBody>
                  <a:tcPr marL="29388" marR="29388" marT="14694" marB="146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the Water-Leak Detection module, including audio-data processing, feature extraction and leak-classification experiments.</a:t>
                      </a:r>
                    </a:p>
                  </a:txBody>
                  <a:tcPr marL="29388" marR="29388" marT="14694" marB="1469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3, 14, 15</a:t>
                      </a:r>
                    </a:p>
                  </a:txBody>
                  <a:tcPr marL="29388" marR="29388" marT="14694" marB="14694" anchor="ctr"/>
                </a:tc>
                <a:extLst>
                  <a:ext uri="{0D108BD9-81ED-4DB2-BD59-A6C34878D82A}">
                    <a16:rowId xmlns:a16="http://schemas.microsoft.com/office/drawing/2014/main" val="4040627274"/>
                  </a:ext>
                </a:extLst>
              </a:tr>
              <a:tr h="9557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26535016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the Customer Feedback Analysis module to classify customer sentiment, feedback categories and complaint severity.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6, 17</a:t>
                      </a:r>
                    </a:p>
                  </a:txBody>
                  <a:tcPr marL="29388" marR="29388" marT="14694" marB="14694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87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79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C54A-6F03-A7C0-8D68-D39AFDB8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E48F7-A5E0-1278-F0B3-E371E29C5AC5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Project Overview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68315-6DB9-0951-1B99-69D4F0DEC334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4E188-1A36-958B-260F-C6BB5584E7A5}"/>
              </a:ext>
            </a:extLst>
          </p:cNvPr>
          <p:cNvSpPr txBox="1"/>
          <p:nvPr/>
        </p:nvSpPr>
        <p:spPr>
          <a:xfrm>
            <a:off x="501331" y="1026079"/>
            <a:ext cx="8642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Integrated Machine Learning System for Plumbing Service Operations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BE3A7-5F74-EE27-5E06-440D09B7F0B8}"/>
              </a:ext>
            </a:extLst>
          </p:cNvPr>
          <p:cNvSpPr txBox="1"/>
          <p:nvPr/>
        </p:nvSpPr>
        <p:spPr>
          <a:xfrm>
            <a:off x="530352" y="1565300"/>
            <a:ext cx="84546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five components are: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Detect potential water leaks from audio signals.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Forecast upcoming service demand.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Analyze customer feedback and complaint severity.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Estimate cancellation risk and explore resource allocation.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Predict service duration and optimize technician schedules.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522EB-B270-DAF4-9CFB-0681DF712F17}"/>
              </a:ext>
            </a:extLst>
          </p:cNvPr>
          <p:cNvSpPr txBox="1"/>
          <p:nvPr/>
        </p:nvSpPr>
        <p:spPr>
          <a:xfrm>
            <a:off x="530352" y="3429000"/>
            <a:ext cx="88223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/>
              <a:t>Expected contribution</a:t>
            </a:r>
          </a:p>
          <a:p>
            <a:pPr algn="just">
              <a:buNone/>
            </a:pPr>
            <a:r>
              <a:rPr lang="en-US" dirty="0"/>
              <a:t>The project combines predictive analytics and optimization techniques to investigate how data-driven decisions can support plumbing service management.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55EC47-0185-2328-1938-BC032D1CC17A}"/>
              </a:ext>
            </a:extLst>
          </p:cNvPr>
          <p:cNvSpPr/>
          <p:nvPr/>
        </p:nvSpPr>
        <p:spPr>
          <a:xfrm>
            <a:off x="609599" y="4878360"/>
            <a:ext cx="1222513" cy="901016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Customer Request</a:t>
            </a:r>
            <a:endParaRPr lang="en-IN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4B34F-2B8A-62DC-8424-757D849C3ABB}"/>
              </a:ext>
            </a:extLst>
          </p:cNvPr>
          <p:cNvSpPr/>
          <p:nvPr/>
        </p:nvSpPr>
        <p:spPr>
          <a:xfrm>
            <a:off x="7921487" y="4871929"/>
            <a:ext cx="1351721" cy="901013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Service Completion</a:t>
            </a:r>
            <a:endParaRPr lang="en-IN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56BB5A-792C-2EBC-5AF3-0A2982F189AB}"/>
              </a:ext>
            </a:extLst>
          </p:cNvPr>
          <p:cNvSpPr/>
          <p:nvPr/>
        </p:nvSpPr>
        <p:spPr>
          <a:xfrm>
            <a:off x="6096000" y="4871930"/>
            <a:ext cx="1351721" cy="901014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Technician Scheduling</a:t>
            </a:r>
            <a:endParaRPr lang="en-IN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C4293D-25CD-7A56-1542-BF5E70C4392D}"/>
              </a:ext>
            </a:extLst>
          </p:cNvPr>
          <p:cNvSpPr/>
          <p:nvPr/>
        </p:nvSpPr>
        <p:spPr>
          <a:xfrm>
            <a:off x="4267200" y="4878359"/>
            <a:ext cx="1222513" cy="901015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Resource Allocation</a:t>
            </a:r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7907E6-F30F-8754-F544-BF69A2D3F9E9}"/>
              </a:ext>
            </a:extLst>
          </p:cNvPr>
          <p:cNvSpPr/>
          <p:nvPr/>
        </p:nvSpPr>
        <p:spPr>
          <a:xfrm>
            <a:off x="2438398" y="4878360"/>
            <a:ext cx="1335155" cy="901017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Demand Forecasting</a:t>
            </a:r>
            <a:endParaRPr lang="en-IN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CA9C31-7765-C19E-FC88-2DCBF1DED2A0}"/>
              </a:ext>
            </a:extLst>
          </p:cNvPr>
          <p:cNvSpPr/>
          <p:nvPr/>
        </p:nvSpPr>
        <p:spPr>
          <a:xfrm>
            <a:off x="9912626" y="4878361"/>
            <a:ext cx="1351721" cy="901013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Feedback Analysis</a:t>
            </a:r>
            <a:endParaRPr lang="en-IN" sz="1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EE0916-EAE3-C192-202F-67BA5C544AC4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1832112" y="5328868"/>
            <a:ext cx="606286" cy="1"/>
          </a:xfrm>
          <a:prstGeom prst="straightConnector1">
            <a:avLst/>
          </a:prstGeom>
          <a:ln>
            <a:tailEnd type="triangle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00D14F-39A6-206A-90FD-7C06889AEC0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773553" y="5328866"/>
            <a:ext cx="493647" cy="1"/>
          </a:xfrm>
          <a:prstGeom prst="straightConnector1">
            <a:avLst/>
          </a:prstGeom>
          <a:ln>
            <a:tailEnd type="triangle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3E8B06-D7DD-2835-CCC0-87A2B7CD7261}"/>
              </a:ext>
            </a:extLst>
          </p:cNvPr>
          <p:cNvCxnSpPr/>
          <p:nvPr/>
        </p:nvCxnSpPr>
        <p:spPr>
          <a:xfrm>
            <a:off x="5489714" y="5328866"/>
            <a:ext cx="606286" cy="1"/>
          </a:xfrm>
          <a:prstGeom prst="straightConnector1">
            <a:avLst/>
          </a:prstGeom>
          <a:ln>
            <a:tailEnd type="triangle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14CF06-8D0A-CB74-3892-506EEAD88BBC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7447721" y="5322436"/>
            <a:ext cx="473766" cy="1"/>
          </a:xfrm>
          <a:prstGeom prst="straightConnector1">
            <a:avLst/>
          </a:prstGeom>
          <a:ln>
            <a:tailEnd type="triangle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D0FE20-1AD6-BC88-A056-1D8E40B0C1AD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9273208" y="5322436"/>
            <a:ext cx="639418" cy="6432"/>
          </a:xfrm>
          <a:prstGeom prst="straightConnector1">
            <a:avLst/>
          </a:prstGeom>
          <a:ln>
            <a:tailEnd type="triangle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63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6EB1-1442-5491-E0F8-72FBF72B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D1E8A-673A-E7E7-D907-CACE4B0F93B4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Proposed System Architecture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23D2E-F0FB-7B77-4702-FA638874272C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95F0A-815E-A657-00DB-6E274C657D03}"/>
              </a:ext>
            </a:extLst>
          </p:cNvPr>
          <p:cNvSpPr txBox="1"/>
          <p:nvPr/>
        </p:nvSpPr>
        <p:spPr>
          <a:xfrm>
            <a:off x="501331" y="1026079"/>
            <a:ext cx="8642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Integrated Machine Learning System for Plumbing Service Operations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0A91F-72E4-A418-57AD-42EDE59B73FE}"/>
              </a:ext>
            </a:extLst>
          </p:cNvPr>
          <p:cNvSpPr txBox="1"/>
          <p:nvPr/>
        </p:nvSpPr>
        <p:spPr>
          <a:xfrm>
            <a:off x="530352" y="1547899"/>
            <a:ext cx="2109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parajita" panose="02020603050405020304" pitchFamily="18" charset="0"/>
              </a:rPr>
              <a:t>Data Input (Multiple Source)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BCB1E7C-96C8-FB27-E1AB-23005339DDA6}"/>
              </a:ext>
            </a:extLst>
          </p:cNvPr>
          <p:cNvSpPr/>
          <p:nvPr/>
        </p:nvSpPr>
        <p:spPr>
          <a:xfrm>
            <a:off x="2544417" y="3816380"/>
            <a:ext cx="328718" cy="281236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8A032A4-1721-377E-23D1-5AC3AE449301}"/>
              </a:ext>
            </a:extLst>
          </p:cNvPr>
          <p:cNvGrpSpPr/>
          <p:nvPr/>
        </p:nvGrpSpPr>
        <p:grpSpPr>
          <a:xfrm>
            <a:off x="530353" y="2223772"/>
            <a:ext cx="2014064" cy="4117393"/>
            <a:chOff x="530352" y="2223772"/>
            <a:chExt cx="2644013" cy="44056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79EEE3-B495-865B-60E5-73C2F8792F5C}"/>
                </a:ext>
              </a:extLst>
            </p:cNvPr>
            <p:cNvSpPr/>
            <p:nvPr/>
          </p:nvSpPr>
          <p:spPr>
            <a:xfrm>
              <a:off x="530352" y="2223772"/>
              <a:ext cx="2620352" cy="440562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Graphic 8" descr="Radio microphone">
              <a:extLst>
                <a:ext uri="{FF2B5EF4-FFF2-40B4-BE49-F238E27FC236}">
                  <a16:creationId xmlns:a16="http://schemas.microsoft.com/office/drawing/2014/main" id="{9B4D8976-A0B3-8994-7138-6D8A71A93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30352" y="2377875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4DBF4F-F73B-D1BF-DA46-1FDFF1EA91C9}"/>
                </a:ext>
              </a:extLst>
            </p:cNvPr>
            <p:cNvSpPr/>
            <p:nvPr/>
          </p:nvSpPr>
          <p:spPr>
            <a:xfrm>
              <a:off x="960808" y="2377875"/>
              <a:ext cx="2040809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Audio Recording</a:t>
              </a:r>
            </a:p>
            <a:p>
              <a:pPr algn="ctr"/>
              <a:r>
                <a:rPr lang="en-US" sz="1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(Leak Detection)</a:t>
              </a:r>
              <a:endParaRPr lang="en-US" sz="14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Narrow" panose="020B0606020202030204" pitchFamily="34" charset="0"/>
              </a:endParaRPr>
            </a:p>
          </p:txBody>
        </p:sp>
        <p:pic>
          <p:nvPicPr>
            <p:cNvPr id="17" name="Graphic 16" descr="Signal">
              <a:extLst>
                <a:ext uri="{FF2B5EF4-FFF2-40B4-BE49-F238E27FC236}">
                  <a16:creationId xmlns:a16="http://schemas.microsoft.com/office/drawing/2014/main" id="{5DF7E217-17B8-F62D-4653-813F3C34E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30352" y="3052949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034EDB-86B8-361C-AF22-08B8EAEA91FF}"/>
                </a:ext>
              </a:extLst>
            </p:cNvPr>
            <p:cNvSpPr/>
            <p:nvPr/>
          </p:nvSpPr>
          <p:spPr>
            <a:xfrm>
              <a:off x="960808" y="3052949"/>
              <a:ext cx="2040809" cy="79037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Historical Demand Records: Demand forecasting</a:t>
              </a:r>
            </a:p>
          </p:txBody>
        </p:sp>
        <p:pic>
          <p:nvPicPr>
            <p:cNvPr id="23" name="Graphic 22" descr="Speech">
              <a:extLst>
                <a:ext uri="{FF2B5EF4-FFF2-40B4-BE49-F238E27FC236}">
                  <a16:creationId xmlns:a16="http://schemas.microsoft.com/office/drawing/2014/main" id="{9E5170D2-93AA-648F-1BE0-6E24082C3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30352" y="3798337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44103E2-4C18-390B-03D2-2BB08082BD6C}"/>
                </a:ext>
              </a:extLst>
            </p:cNvPr>
            <p:cNvSpPr/>
            <p:nvPr/>
          </p:nvSpPr>
          <p:spPr>
            <a:xfrm>
              <a:off x="960808" y="3798337"/>
              <a:ext cx="2040809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Customer Feedback: Feedback analysis</a:t>
              </a:r>
            </a:p>
          </p:txBody>
        </p:sp>
        <p:pic>
          <p:nvPicPr>
            <p:cNvPr id="26" name="Graphic 25" descr="Document">
              <a:extLst>
                <a:ext uri="{FF2B5EF4-FFF2-40B4-BE49-F238E27FC236}">
                  <a16:creationId xmlns:a16="http://schemas.microsoft.com/office/drawing/2014/main" id="{C17A2B6A-AFF5-624E-166B-B877D214E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56295" y="4548770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D73DA1-3B18-E74A-BD09-773D64261647}"/>
                </a:ext>
              </a:extLst>
            </p:cNvPr>
            <p:cNvSpPr/>
            <p:nvPr/>
          </p:nvSpPr>
          <p:spPr>
            <a:xfrm>
              <a:off x="986751" y="4548770"/>
              <a:ext cx="2163953" cy="79037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Task and Technician Records: Resource optimization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339FF9-21C9-50B1-18D6-373690E1FBF9}"/>
                </a:ext>
              </a:extLst>
            </p:cNvPr>
            <p:cNvSpPr/>
            <p:nvPr/>
          </p:nvSpPr>
          <p:spPr>
            <a:xfrm>
              <a:off x="1010412" y="5416422"/>
              <a:ext cx="2163953" cy="10208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Task Details, Locations, Skills and Travel Data: Scheduling and duration prediction</a:t>
              </a:r>
            </a:p>
          </p:txBody>
        </p:sp>
        <p:pic>
          <p:nvPicPr>
            <p:cNvPr id="56" name="Graphic 55" descr="Marker">
              <a:extLst>
                <a:ext uri="{FF2B5EF4-FFF2-40B4-BE49-F238E27FC236}">
                  <a16:creationId xmlns:a16="http://schemas.microsoft.com/office/drawing/2014/main" id="{A55F5436-5A47-C79C-935D-B46100C94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30352" y="5472939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307FE44-010C-798E-38CE-B7D6B1E1735A}"/>
              </a:ext>
            </a:extLst>
          </p:cNvPr>
          <p:cNvSpPr txBox="1"/>
          <p:nvPr/>
        </p:nvSpPr>
        <p:spPr>
          <a:xfrm>
            <a:off x="2902811" y="1565300"/>
            <a:ext cx="2109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parajita" panose="02020603050405020304" pitchFamily="18" charset="0"/>
              </a:rPr>
              <a:t>Data Preparation (Preprocessing)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98B8A45-1BF7-520C-D0E0-9208A97EB53B}"/>
              </a:ext>
            </a:extLst>
          </p:cNvPr>
          <p:cNvGrpSpPr/>
          <p:nvPr/>
        </p:nvGrpSpPr>
        <p:grpSpPr>
          <a:xfrm>
            <a:off x="2902812" y="2241173"/>
            <a:ext cx="1996040" cy="4117393"/>
            <a:chOff x="530352" y="2223772"/>
            <a:chExt cx="2620352" cy="440562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C2306ED-00C4-6C94-9963-E2D7C3399CBA}"/>
                </a:ext>
              </a:extLst>
            </p:cNvPr>
            <p:cNvSpPr/>
            <p:nvPr/>
          </p:nvSpPr>
          <p:spPr>
            <a:xfrm>
              <a:off x="530352" y="2223772"/>
              <a:ext cx="2620352" cy="440562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2" name="Graphic 61" descr="Database">
              <a:extLst>
                <a:ext uri="{FF2B5EF4-FFF2-40B4-BE49-F238E27FC236}">
                  <a16:creationId xmlns:a16="http://schemas.microsoft.com/office/drawing/2014/main" id="{EE5AECC5-0B1C-CECF-5489-08DF6F70C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530352" y="2417677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2B0F6E6-5169-4FE2-E481-72506186E787}"/>
                </a:ext>
              </a:extLst>
            </p:cNvPr>
            <p:cNvSpPr/>
            <p:nvPr/>
          </p:nvSpPr>
          <p:spPr>
            <a:xfrm>
              <a:off x="960808" y="2377875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Data Cleaning</a:t>
              </a:r>
            </a:p>
          </p:txBody>
        </p:sp>
        <p:pic>
          <p:nvPicPr>
            <p:cNvPr id="64" name="Graphic 63" descr="Gears">
              <a:extLst>
                <a:ext uri="{FF2B5EF4-FFF2-40B4-BE49-F238E27FC236}">
                  <a16:creationId xmlns:a16="http://schemas.microsoft.com/office/drawing/2014/main" id="{F5719F40-4798-FB0A-1F06-32F20E4DF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539330" y="3655996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854D4D8-3282-9615-23CE-1E4AAC098859}"/>
                </a:ext>
              </a:extLst>
            </p:cNvPr>
            <p:cNvSpPr/>
            <p:nvPr/>
          </p:nvSpPr>
          <p:spPr>
            <a:xfrm>
              <a:off x="894648" y="3678177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Feature Extraction</a:t>
              </a:r>
            </a:p>
          </p:txBody>
        </p:sp>
        <p:pic>
          <p:nvPicPr>
            <p:cNvPr id="66" name="Graphic 65" descr="Table">
              <a:extLst>
                <a:ext uri="{FF2B5EF4-FFF2-40B4-BE49-F238E27FC236}">
                  <a16:creationId xmlns:a16="http://schemas.microsoft.com/office/drawing/2014/main" id="{9E61DE22-B10B-182E-89DC-3E12D7317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596494" y="4987419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E62FCD1-151E-D310-CBF0-B843263CEDBD}"/>
                </a:ext>
              </a:extLst>
            </p:cNvPr>
            <p:cNvSpPr/>
            <p:nvPr/>
          </p:nvSpPr>
          <p:spPr>
            <a:xfrm>
              <a:off x="960808" y="4978480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Data Transformation</a:t>
              </a:r>
            </a:p>
          </p:txBody>
        </p:sp>
        <p:pic>
          <p:nvPicPr>
            <p:cNvPr id="68" name="Graphic 67" descr="Test tubes">
              <a:extLst>
                <a:ext uri="{FF2B5EF4-FFF2-40B4-BE49-F238E27FC236}">
                  <a16:creationId xmlns:a16="http://schemas.microsoft.com/office/drawing/2014/main" id="{FE8413E7-100D-F847-126C-F54E3DBCA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607434" y="5861020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AC5BA48-F097-4791-664B-545CC0237C00}"/>
                </a:ext>
              </a:extLst>
            </p:cNvPr>
            <p:cNvSpPr/>
            <p:nvPr/>
          </p:nvSpPr>
          <p:spPr>
            <a:xfrm>
              <a:off x="986751" y="5871786"/>
              <a:ext cx="2163953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Train/Test Split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AFF34B3-84AF-6CF3-CB33-4C6EEDE85A5C}"/>
              </a:ext>
            </a:extLst>
          </p:cNvPr>
          <p:cNvSpPr txBox="1"/>
          <p:nvPr/>
        </p:nvSpPr>
        <p:spPr>
          <a:xfrm>
            <a:off x="5257005" y="1547899"/>
            <a:ext cx="2258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parajita" panose="02020603050405020304" pitchFamily="18" charset="0"/>
              </a:rPr>
              <a:t>Machine Learning (Predictive Models)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67F0237-0AB3-90C0-2CDB-5B8ADC7F4AB3}"/>
              </a:ext>
            </a:extLst>
          </p:cNvPr>
          <p:cNvGrpSpPr/>
          <p:nvPr/>
        </p:nvGrpSpPr>
        <p:grpSpPr>
          <a:xfrm>
            <a:off x="5257006" y="2223772"/>
            <a:ext cx="2014064" cy="4117393"/>
            <a:chOff x="530352" y="2223772"/>
            <a:chExt cx="2644013" cy="4405628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FA7FB44-733F-D278-EA7B-75A281EE02DF}"/>
                </a:ext>
              </a:extLst>
            </p:cNvPr>
            <p:cNvSpPr/>
            <p:nvPr/>
          </p:nvSpPr>
          <p:spPr>
            <a:xfrm>
              <a:off x="530352" y="2223772"/>
              <a:ext cx="2620352" cy="440562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8" name="Graphic 87" descr="Radio microphone">
              <a:extLst>
                <a:ext uri="{FF2B5EF4-FFF2-40B4-BE49-F238E27FC236}">
                  <a16:creationId xmlns:a16="http://schemas.microsoft.com/office/drawing/2014/main" id="{BE849418-458E-8EDB-35C9-78CDBB06B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30352" y="2377875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26A0E6F-0415-23BE-2DFE-44D1F132F17A}"/>
                </a:ext>
              </a:extLst>
            </p:cNvPr>
            <p:cNvSpPr/>
            <p:nvPr/>
          </p:nvSpPr>
          <p:spPr>
            <a:xfrm>
              <a:off x="960808" y="2377875"/>
              <a:ext cx="2040809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Water-Leak Detection</a:t>
              </a:r>
            </a:p>
          </p:txBody>
        </p:sp>
        <p:pic>
          <p:nvPicPr>
            <p:cNvPr id="90" name="Graphic 89" descr="Signal">
              <a:extLst>
                <a:ext uri="{FF2B5EF4-FFF2-40B4-BE49-F238E27FC236}">
                  <a16:creationId xmlns:a16="http://schemas.microsoft.com/office/drawing/2014/main" id="{49B1E3B9-3561-F94C-4D30-214909AA8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30352" y="3052949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F2CC84F-331F-3573-80F3-FA428D9DCEFB}"/>
                </a:ext>
              </a:extLst>
            </p:cNvPr>
            <p:cNvSpPr/>
            <p:nvPr/>
          </p:nvSpPr>
          <p:spPr>
            <a:xfrm>
              <a:off x="960808" y="3052949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Demand Forecasting</a:t>
              </a:r>
            </a:p>
          </p:txBody>
        </p:sp>
        <p:pic>
          <p:nvPicPr>
            <p:cNvPr id="92" name="Graphic 91" descr="Speech">
              <a:extLst>
                <a:ext uri="{FF2B5EF4-FFF2-40B4-BE49-F238E27FC236}">
                  <a16:creationId xmlns:a16="http://schemas.microsoft.com/office/drawing/2014/main" id="{0769C617-D502-31A1-757E-4D9AC54FF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30352" y="3798337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22B6E15-AF97-BC21-2020-0A322D8BFB7B}"/>
                </a:ext>
              </a:extLst>
            </p:cNvPr>
            <p:cNvSpPr/>
            <p:nvPr/>
          </p:nvSpPr>
          <p:spPr>
            <a:xfrm>
              <a:off x="960808" y="3798337"/>
              <a:ext cx="2040809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Customer Feedback Analysis</a:t>
              </a:r>
            </a:p>
          </p:txBody>
        </p:sp>
        <p:pic>
          <p:nvPicPr>
            <p:cNvPr id="94" name="Graphic 93" descr="School boy">
              <a:extLst>
                <a:ext uri="{FF2B5EF4-FFF2-40B4-BE49-F238E27FC236}">
                  <a16:creationId xmlns:a16="http://schemas.microsoft.com/office/drawing/2014/main" id="{5DA7ADAC-B517-5065-A76B-E940B45B3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556295" y="4588572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3DEAA34-A1BB-FF4D-5575-ACD19914715D}"/>
                </a:ext>
              </a:extLst>
            </p:cNvPr>
            <p:cNvSpPr/>
            <p:nvPr/>
          </p:nvSpPr>
          <p:spPr>
            <a:xfrm>
              <a:off x="986751" y="4548770"/>
              <a:ext cx="2163953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Cancellation-Risk Prediction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10EAE40-83B9-E703-5221-FE8FC8AD24C9}"/>
                </a:ext>
              </a:extLst>
            </p:cNvPr>
            <p:cNvSpPr/>
            <p:nvPr/>
          </p:nvSpPr>
          <p:spPr>
            <a:xfrm>
              <a:off x="1010412" y="5416422"/>
              <a:ext cx="2163953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Service Duration Prediction</a:t>
              </a:r>
            </a:p>
          </p:txBody>
        </p:sp>
        <p:pic>
          <p:nvPicPr>
            <p:cNvPr id="97" name="Graphic 96" descr="Clock">
              <a:extLst>
                <a:ext uri="{FF2B5EF4-FFF2-40B4-BE49-F238E27FC236}">
                  <a16:creationId xmlns:a16="http://schemas.microsoft.com/office/drawing/2014/main" id="{ABF1C7EE-FB7A-265C-B85E-5C94FC165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530352" y="5512741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FB4D20DC-3E6C-9DB3-A0E9-A50E2492A935}"/>
              </a:ext>
            </a:extLst>
          </p:cNvPr>
          <p:cNvSpPr txBox="1"/>
          <p:nvPr/>
        </p:nvSpPr>
        <p:spPr>
          <a:xfrm>
            <a:off x="9751924" y="1483972"/>
            <a:ext cx="2440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parajita" panose="02020603050405020304" pitchFamily="18" charset="0"/>
              </a:rPr>
              <a:t>Outputs (Applications and Insights)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B59C432-A086-2F51-57A5-930D3FB37900}"/>
              </a:ext>
            </a:extLst>
          </p:cNvPr>
          <p:cNvGrpSpPr/>
          <p:nvPr/>
        </p:nvGrpSpPr>
        <p:grpSpPr>
          <a:xfrm>
            <a:off x="9926147" y="2159845"/>
            <a:ext cx="2014064" cy="4117393"/>
            <a:chOff x="530352" y="2223772"/>
            <a:chExt cx="2644013" cy="440562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2B68127-9E5C-C320-85BE-CF2603ADDE98}"/>
                </a:ext>
              </a:extLst>
            </p:cNvPr>
            <p:cNvSpPr/>
            <p:nvPr/>
          </p:nvSpPr>
          <p:spPr>
            <a:xfrm>
              <a:off x="530352" y="2223772"/>
              <a:ext cx="2620352" cy="440562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01" name="Graphic 100" descr="Radio microphone">
              <a:extLst>
                <a:ext uri="{FF2B5EF4-FFF2-40B4-BE49-F238E27FC236}">
                  <a16:creationId xmlns:a16="http://schemas.microsoft.com/office/drawing/2014/main" id="{7934D160-65E5-4ECB-431F-83008E517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30352" y="2377875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17A90AC-EBA7-35D6-F637-F71C45EB9D73}"/>
                </a:ext>
              </a:extLst>
            </p:cNvPr>
            <p:cNvSpPr/>
            <p:nvPr/>
          </p:nvSpPr>
          <p:spPr>
            <a:xfrm>
              <a:off x="960808" y="2377875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Leak Classification</a:t>
              </a:r>
            </a:p>
          </p:txBody>
        </p:sp>
        <p:pic>
          <p:nvPicPr>
            <p:cNvPr id="103" name="Graphic 102" descr="Signal">
              <a:extLst>
                <a:ext uri="{FF2B5EF4-FFF2-40B4-BE49-F238E27FC236}">
                  <a16:creationId xmlns:a16="http://schemas.microsoft.com/office/drawing/2014/main" id="{387A5EBB-8E74-9CE0-60B9-D280994E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30352" y="3052949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C2AD074-C9D8-DCEA-9DBA-9FC9EE09D239}"/>
                </a:ext>
              </a:extLst>
            </p:cNvPr>
            <p:cNvSpPr/>
            <p:nvPr/>
          </p:nvSpPr>
          <p:spPr>
            <a:xfrm>
              <a:off x="960808" y="3052949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Demand Forecasts</a:t>
              </a:r>
            </a:p>
          </p:txBody>
        </p:sp>
        <p:pic>
          <p:nvPicPr>
            <p:cNvPr id="105" name="Graphic 104" descr="Speech">
              <a:extLst>
                <a:ext uri="{FF2B5EF4-FFF2-40B4-BE49-F238E27FC236}">
                  <a16:creationId xmlns:a16="http://schemas.microsoft.com/office/drawing/2014/main" id="{79B6CE92-9E11-5B96-41B0-E26D4D808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530352" y="3798337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D832D11-D0BE-0EE2-0922-B86F58BE1F38}"/>
                </a:ext>
              </a:extLst>
            </p:cNvPr>
            <p:cNvSpPr/>
            <p:nvPr/>
          </p:nvSpPr>
          <p:spPr>
            <a:xfrm>
              <a:off x="960808" y="3798337"/>
              <a:ext cx="2040809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Feedback Insights</a:t>
              </a:r>
            </a:p>
          </p:txBody>
        </p:sp>
        <p:pic>
          <p:nvPicPr>
            <p:cNvPr id="107" name="Graphic 106" descr="Document">
              <a:extLst>
                <a:ext uri="{FF2B5EF4-FFF2-40B4-BE49-F238E27FC236}">
                  <a16:creationId xmlns:a16="http://schemas.microsoft.com/office/drawing/2014/main" id="{E165EA74-E67A-2636-9B83-931FB3CFD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56295" y="4548770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E19A80C3-C32F-F64D-D988-E2CD63E53E8B}"/>
                </a:ext>
              </a:extLst>
            </p:cNvPr>
            <p:cNvSpPr/>
            <p:nvPr/>
          </p:nvSpPr>
          <p:spPr>
            <a:xfrm>
              <a:off x="986751" y="4548770"/>
              <a:ext cx="2163953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Resource Allocation Recommendations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75F1A86-7779-BD66-8AA7-9BC4BC1279B9}"/>
                </a:ext>
              </a:extLst>
            </p:cNvPr>
            <p:cNvSpPr/>
            <p:nvPr/>
          </p:nvSpPr>
          <p:spPr>
            <a:xfrm>
              <a:off x="1010412" y="5416422"/>
              <a:ext cx="2163953" cy="3293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Optimized Schedules</a:t>
              </a:r>
            </a:p>
          </p:txBody>
        </p:sp>
        <p:pic>
          <p:nvPicPr>
            <p:cNvPr id="110" name="Graphic 109" descr="Marker">
              <a:extLst>
                <a:ext uri="{FF2B5EF4-FFF2-40B4-BE49-F238E27FC236}">
                  <a16:creationId xmlns:a16="http://schemas.microsoft.com/office/drawing/2014/main" id="{4A76E3AA-5C1A-6359-563A-7F5B301C1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30352" y="5472939"/>
              <a:ext cx="430456" cy="4304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</p:grpSp>
      <p:sp>
        <p:nvSpPr>
          <p:cNvPr id="122" name="Arrow: Right 121">
            <a:extLst>
              <a:ext uri="{FF2B5EF4-FFF2-40B4-BE49-F238E27FC236}">
                <a16:creationId xmlns:a16="http://schemas.microsoft.com/office/drawing/2014/main" id="{A4850A55-6071-A3E8-D12D-0D1FAFD99CA7}"/>
              </a:ext>
            </a:extLst>
          </p:cNvPr>
          <p:cNvSpPr/>
          <p:nvPr/>
        </p:nvSpPr>
        <p:spPr>
          <a:xfrm>
            <a:off x="4910323" y="3842540"/>
            <a:ext cx="328718" cy="281236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Arrow: Right 122">
            <a:extLst>
              <a:ext uri="{FF2B5EF4-FFF2-40B4-BE49-F238E27FC236}">
                <a16:creationId xmlns:a16="http://schemas.microsoft.com/office/drawing/2014/main" id="{910BBF14-7474-4990-DA56-E8861EAE4853}"/>
              </a:ext>
            </a:extLst>
          </p:cNvPr>
          <p:cNvSpPr/>
          <p:nvPr/>
        </p:nvSpPr>
        <p:spPr>
          <a:xfrm>
            <a:off x="7265153" y="3816314"/>
            <a:ext cx="328718" cy="281236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2D25205-8AAE-ADED-BB47-E9A25B6EFBC0}"/>
              </a:ext>
            </a:extLst>
          </p:cNvPr>
          <p:cNvGrpSpPr/>
          <p:nvPr/>
        </p:nvGrpSpPr>
        <p:grpSpPr>
          <a:xfrm>
            <a:off x="7580944" y="2201416"/>
            <a:ext cx="1996040" cy="4117393"/>
            <a:chOff x="530352" y="2223772"/>
            <a:chExt cx="2620352" cy="4405628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94B790E-BEAE-E217-1456-6ED829DA0F1B}"/>
                </a:ext>
              </a:extLst>
            </p:cNvPr>
            <p:cNvSpPr/>
            <p:nvPr/>
          </p:nvSpPr>
          <p:spPr>
            <a:xfrm>
              <a:off x="530352" y="2223772"/>
              <a:ext cx="2620352" cy="440562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28" name="Graphic 127" descr="Database">
              <a:extLst>
                <a:ext uri="{FF2B5EF4-FFF2-40B4-BE49-F238E27FC236}">
                  <a16:creationId xmlns:a16="http://schemas.microsoft.com/office/drawing/2014/main" id="{566438A0-8177-08CA-000A-8DCC50194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>
            <a:xfrm>
              <a:off x="539330" y="3655996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45A0F1F-3499-5A98-9245-AE6065528CF6}"/>
                </a:ext>
              </a:extLst>
            </p:cNvPr>
            <p:cNvSpPr/>
            <p:nvPr/>
          </p:nvSpPr>
          <p:spPr>
            <a:xfrm>
              <a:off x="894648" y="3678177"/>
              <a:ext cx="2040809" cy="55984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Strategic Resource Optimization</a:t>
              </a:r>
            </a:p>
          </p:txBody>
        </p:sp>
        <p:pic>
          <p:nvPicPr>
            <p:cNvPr id="130" name="Graphic 129" descr="DJ">
              <a:extLst>
                <a:ext uri="{FF2B5EF4-FFF2-40B4-BE49-F238E27FC236}">
                  <a16:creationId xmlns:a16="http://schemas.microsoft.com/office/drawing/2014/main" id="{C6833223-AD48-9825-4874-1FF75FED2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/>
            <a:stretch/>
          </p:blipFill>
          <p:spPr>
            <a:xfrm>
              <a:off x="596494" y="4987419"/>
              <a:ext cx="430456" cy="350852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01600" prst="riblet"/>
            </a:sp3d>
          </p:spPr>
        </p:pic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213D0ED-67DA-88C8-577A-2206761F1C48}"/>
                </a:ext>
              </a:extLst>
            </p:cNvPr>
            <p:cNvSpPr/>
            <p:nvPr/>
          </p:nvSpPr>
          <p:spPr>
            <a:xfrm>
              <a:off x="960808" y="4978480"/>
              <a:ext cx="2040809" cy="79037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 Narrow" panose="020B0606020202030204" pitchFamily="34" charset="0"/>
                </a:rPr>
                <a:t>Technician Scheduling Optimization</a:t>
              </a:r>
            </a:p>
          </p:txBody>
        </p:sp>
      </p:grp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A283636F-B5E4-DA3B-98DF-DA67815124B2}"/>
              </a:ext>
            </a:extLst>
          </p:cNvPr>
          <p:cNvSpPr/>
          <p:nvPr/>
        </p:nvSpPr>
        <p:spPr>
          <a:xfrm>
            <a:off x="9583823" y="3816314"/>
            <a:ext cx="328718" cy="281236"/>
          </a:xfrm>
          <a:prstGeom prst="rightArrow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6548A8F-E56A-4BD8-57D6-17A51303D4D6}"/>
              </a:ext>
            </a:extLst>
          </p:cNvPr>
          <p:cNvSpPr txBox="1"/>
          <p:nvPr/>
        </p:nvSpPr>
        <p:spPr>
          <a:xfrm>
            <a:off x="7379465" y="1512100"/>
            <a:ext cx="2258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cs typeface="Aparajita" panose="02020603050405020304" pitchFamily="18" charset="0"/>
              </a:rPr>
              <a:t>Optimization (Decision Support)</a:t>
            </a:r>
          </a:p>
        </p:txBody>
      </p:sp>
    </p:spTree>
    <p:extLst>
      <p:ext uri="{BB962C8B-B14F-4D97-AF65-F5344CB8AC3E}">
        <p14:creationId xmlns:p14="http://schemas.microsoft.com/office/powerpoint/2010/main" val="179370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07E9F-8814-67AD-838F-0F9DC8946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A3183-C75A-5358-8F5F-6F09CFE94F40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Plumbing Demand Forecasting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C9B51-40CF-5DFB-59A1-02C4710399C2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A36EA-5D7F-4B31-E843-E548FDC4D295}"/>
              </a:ext>
            </a:extLst>
          </p:cNvPr>
          <p:cNvSpPr txBox="1"/>
          <p:nvPr/>
        </p:nvSpPr>
        <p:spPr>
          <a:xfrm>
            <a:off x="501332" y="1026079"/>
            <a:ext cx="7092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Predicting Future Service Demand Using Machine Learning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49CA1-6EFE-91F7-EF6F-0C82A64A3877}"/>
              </a:ext>
            </a:extLst>
          </p:cNvPr>
          <p:cNvSpPr txBox="1"/>
          <p:nvPr/>
        </p:nvSpPr>
        <p:spPr>
          <a:xfrm>
            <a:off x="530352" y="1426189"/>
            <a:ext cx="11078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Plumbing service demand varies by service type, branch and time. Accurate forecasting can help organizations plan staffing and allocate resources more effectively.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F5469C-2BDA-79AA-66EE-E930308D7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84384"/>
            <a:ext cx="11078552" cy="34691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E3FE04-86A4-87B4-6F11-910D936C11B8}"/>
              </a:ext>
            </a:extLst>
          </p:cNvPr>
          <p:cNvSpPr txBox="1"/>
          <p:nvPr/>
        </p:nvSpPr>
        <p:spPr>
          <a:xfrm>
            <a:off x="501332" y="5983069"/>
            <a:ext cx="11107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14-day demand forecasts of historical demand visualization with branch-wise and service-wise analysis, and expected and busy-day technician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52119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0109-C3C9-58B6-F856-DE15FE18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9289A-03A4-697C-FB11-3FC162932533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Plumbing Demand Forecasting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364A7-4DF7-2D98-336E-3A6538E1816A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87D9E-9AB1-24F4-1AC4-CC0C7EFA25DD}"/>
              </a:ext>
            </a:extLst>
          </p:cNvPr>
          <p:cNvSpPr txBox="1"/>
          <p:nvPr/>
        </p:nvSpPr>
        <p:spPr>
          <a:xfrm>
            <a:off x="501332" y="1026079"/>
            <a:ext cx="5491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 and Experimental Results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93AD6-20D8-83FE-E451-535325E88FC0}"/>
              </a:ext>
            </a:extLst>
          </p:cNvPr>
          <p:cNvSpPr txBox="1"/>
          <p:nvPr/>
        </p:nvSpPr>
        <p:spPr>
          <a:xfrm>
            <a:off x="530352" y="1565300"/>
            <a:ext cx="6107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Branch-Level Daily Forecasting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03B09E-6AC2-730F-2E7D-7545323AF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157934"/>
              </p:ext>
            </p:extLst>
          </p:nvPr>
        </p:nvGraphicFramePr>
        <p:xfrm>
          <a:off x="853178" y="2042965"/>
          <a:ext cx="10795482" cy="1341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98494">
                  <a:extLst>
                    <a:ext uri="{9D8B030D-6E8A-4147-A177-3AD203B41FA5}">
                      <a16:colId xmlns:a16="http://schemas.microsoft.com/office/drawing/2014/main" val="3654005856"/>
                    </a:ext>
                  </a:extLst>
                </a:gridCol>
                <a:gridCol w="3598494">
                  <a:extLst>
                    <a:ext uri="{9D8B030D-6E8A-4147-A177-3AD203B41FA5}">
                      <a16:colId xmlns:a16="http://schemas.microsoft.com/office/drawing/2014/main" val="2067680856"/>
                    </a:ext>
                  </a:extLst>
                </a:gridCol>
                <a:gridCol w="3598494">
                  <a:extLst>
                    <a:ext uri="{9D8B030D-6E8A-4147-A177-3AD203B41FA5}">
                      <a16:colId xmlns:a16="http://schemas.microsoft.com/office/drawing/2014/main" val="2966588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Naive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332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891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−1.8%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9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P10–P90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Target: 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9975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51524A-0C32-AEA9-C1AC-FF6BF3B046AD}"/>
              </a:ext>
            </a:extLst>
          </p:cNvPr>
          <p:cNvSpPr txBox="1"/>
          <p:nvPr/>
        </p:nvSpPr>
        <p:spPr>
          <a:xfrm>
            <a:off x="530352" y="4147592"/>
            <a:ext cx="6107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× Service × Day Forecasting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7E207-7CC7-6DF4-7D69-62E31910BF39}"/>
              </a:ext>
            </a:extLst>
          </p:cNvPr>
          <p:cNvSpPr txBox="1"/>
          <p:nvPr/>
        </p:nvSpPr>
        <p:spPr>
          <a:xfrm>
            <a:off x="530352" y="3611950"/>
            <a:ext cx="11107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WAPE by 6 percentage points, approximately a 24.1% relative reduction compared with the baseline.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A70FD2A-4A24-BC30-FA64-3A88109CD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688552"/>
              </p:ext>
            </p:extLst>
          </p:nvPr>
        </p:nvGraphicFramePr>
        <p:xfrm>
          <a:off x="853178" y="4675230"/>
          <a:ext cx="10784748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96187">
                  <a:extLst>
                    <a:ext uri="{9D8B030D-6E8A-4147-A177-3AD203B41FA5}">
                      <a16:colId xmlns:a16="http://schemas.microsoft.com/office/drawing/2014/main" val="2767318556"/>
                    </a:ext>
                  </a:extLst>
                </a:gridCol>
                <a:gridCol w="2696187">
                  <a:extLst>
                    <a:ext uri="{9D8B030D-6E8A-4147-A177-3AD203B41FA5}">
                      <a16:colId xmlns:a16="http://schemas.microsoft.com/office/drawing/2014/main" val="697869762"/>
                    </a:ext>
                  </a:extLst>
                </a:gridCol>
                <a:gridCol w="2696187">
                  <a:extLst>
                    <a:ext uri="{9D8B030D-6E8A-4147-A177-3AD203B41FA5}">
                      <a16:colId xmlns:a16="http://schemas.microsoft.com/office/drawing/2014/main" val="377980689"/>
                    </a:ext>
                  </a:extLst>
                </a:gridCol>
                <a:gridCol w="2696187">
                  <a:extLst>
                    <a:ext uri="{9D8B030D-6E8A-4147-A177-3AD203B41FA5}">
                      <a16:colId xmlns:a16="http://schemas.microsoft.com/office/drawing/2014/main" val="3214091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5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48.08%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20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56.17%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25473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A3A51D8-A6C4-5BCA-0CC4-8CC4962F6973}"/>
              </a:ext>
            </a:extLst>
          </p:cNvPr>
          <p:cNvSpPr txBox="1"/>
          <p:nvPr/>
        </p:nvSpPr>
        <p:spPr>
          <a:xfrm>
            <a:off x="613178" y="5870154"/>
            <a:ext cx="11107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outperformed the naive baseline on all three reported error metrics at the branch–service–day level.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1541BB-1861-8A33-F289-38F5F5CE6FB3}"/>
              </a:ext>
            </a:extLst>
          </p:cNvPr>
          <p:cNvSpPr txBox="1"/>
          <p:nvPr/>
        </p:nvSpPr>
        <p:spPr>
          <a:xfrm>
            <a:off x="613178" y="6251907"/>
            <a:ext cx="11107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P10–P90 coverage was 73%, below the 80% target, indicating that prediction intervals require further calibration.</a:t>
            </a:r>
          </a:p>
        </p:txBody>
      </p:sp>
    </p:spTree>
    <p:extLst>
      <p:ext uri="{BB962C8B-B14F-4D97-AF65-F5344CB8AC3E}">
        <p14:creationId xmlns:p14="http://schemas.microsoft.com/office/powerpoint/2010/main" val="115170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5EA470-0395-8C61-0444-1A80BD17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DD5920-72F3-C9C7-4634-E30A1159AD20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Plumbing Demand Forecasting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5024D7-3460-273B-4579-7FB9FD3BEFEA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DB7FDC-6E9F-1EE1-A144-053E4C280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73792"/>
              </p:ext>
            </p:extLst>
          </p:nvPr>
        </p:nvGraphicFramePr>
        <p:xfrm>
          <a:off x="530352" y="1360108"/>
          <a:ext cx="11028856" cy="268750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2757214">
                  <a:extLst>
                    <a:ext uri="{9D8B030D-6E8A-4147-A177-3AD203B41FA5}">
                      <a16:colId xmlns:a16="http://schemas.microsoft.com/office/drawing/2014/main" val="2624135977"/>
                    </a:ext>
                  </a:extLst>
                </a:gridCol>
                <a:gridCol w="2757214">
                  <a:extLst>
                    <a:ext uri="{9D8B030D-6E8A-4147-A177-3AD203B41FA5}">
                      <a16:colId xmlns:a16="http://schemas.microsoft.com/office/drawing/2014/main" val="344438728"/>
                    </a:ext>
                  </a:extLst>
                </a:gridCol>
                <a:gridCol w="2757214">
                  <a:extLst>
                    <a:ext uri="{9D8B030D-6E8A-4147-A177-3AD203B41FA5}">
                      <a16:colId xmlns:a16="http://schemas.microsoft.com/office/drawing/2014/main" val="3008153805"/>
                    </a:ext>
                  </a:extLst>
                </a:gridCol>
                <a:gridCol w="2757214">
                  <a:extLst>
                    <a:ext uri="{9D8B030D-6E8A-4147-A177-3AD203B41FA5}">
                      <a16:colId xmlns:a16="http://schemas.microsoft.com/office/drawing/2014/main" val="407154812"/>
                    </a:ext>
                  </a:extLst>
                </a:gridCol>
              </a:tblGrid>
              <a:tr h="320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Grain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 on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1460"/>
                  </a:ext>
                </a:extLst>
              </a:tr>
              <a:tr h="526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daily_demand.csv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 × service × day (</a:t>
                      </a: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forecasting table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~74k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branch_id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909184"/>
                  </a:ext>
                </a:extLst>
              </a:tr>
              <a:tr h="5603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jobs.csv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completed job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~240k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branch_id, job_date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622043"/>
                  </a:ext>
                </a:extLst>
              </a:tr>
              <a:tr h="320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weather_daily.csv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 × day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8,768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date, branch_id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211994"/>
                  </a:ext>
                </a:extLst>
              </a:tr>
              <a:tr h="320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marketing_daily.csv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 × day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8,768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date, branch_id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419277"/>
                  </a:ext>
                </a:extLst>
              </a:tr>
              <a:tr h="320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calendar.csv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1,096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09742"/>
                  </a:ext>
                </a:extLst>
              </a:tr>
              <a:tr h="320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branches.csv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branch_id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99" marR="97899" marT="45184" marB="451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46692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A616CFB-3F71-7A7F-1FB9-CDBC984C4BCC}"/>
              </a:ext>
            </a:extLst>
          </p:cNvPr>
          <p:cNvSpPr txBox="1"/>
          <p:nvPr/>
        </p:nvSpPr>
        <p:spPr>
          <a:xfrm>
            <a:off x="530351" y="923482"/>
            <a:ext cx="2550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Tables and join keys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E29D72-29AE-9E8A-022E-56E7E0351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1" y="4542182"/>
            <a:ext cx="11354784" cy="20872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6852836-37A6-BA43-1657-A34F5187982A}"/>
              </a:ext>
            </a:extLst>
          </p:cNvPr>
          <p:cNvSpPr txBox="1"/>
          <p:nvPr/>
        </p:nvSpPr>
        <p:spPr>
          <a:xfrm>
            <a:off x="444212" y="4084125"/>
            <a:ext cx="2550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Demand</a:t>
            </a:r>
          </a:p>
        </p:txBody>
      </p:sp>
    </p:spTree>
    <p:extLst>
      <p:ext uri="{BB962C8B-B14F-4D97-AF65-F5344CB8AC3E}">
        <p14:creationId xmlns:p14="http://schemas.microsoft.com/office/powerpoint/2010/main" val="132698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DBBA-4830-F2E5-C8CF-57991B31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B82B4-4235-E20F-4DC5-B672BA6D5FA5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Strategic Resource Optimization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4FF5F3-65AE-F73D-4171-7F9EFD7D924E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63192E-96CB-6C04-B6F1-01E34DCB9CA3}"/>
              </a:ext>
            </a:extLst>
          </p:cNvPr>
          <p:cNvSpPr txBox="1"/>
          <p:nvPr/>
        </p:nvSpPr>
        <p:spPr>
          <a:xfrm>
            <a:off x="501331" y="1026079"/>
            <a:ext cx="5819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ML-Based Risk Prediction and Budget Allocation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20341-BD79-43A8-D7EF-BA4AF2EF6D96}"/>
              </a:ext>
            </a:extLst>
          </p:cNvPr>
          <p:cNvSpPr txBox="1"/>
          <p:nvPr/>
        </p:nvSpPr>
        <p:spPr>
          <a:xfrm>
            <a:off x="530352" y="1426189"/>
            <a:ext cx="11078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budgets and technician resources make it important to identify high-risk service tasks and prioritize interventions.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D84C3-A9A0-8DE6-2051-0C6B6963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546" y="2685333"/>
            <a:ext cx="7028358" cy="37552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954074D8-A157-8C6C-0611-CA5B8AA915E1}"/>
              </a:ext>
            </a:extLst>
          </p:cNvPr>
          <p:cNvSpPr txBox="1"/>
          <p:nvPr/>
        </p:nvSpPr>
        <p:spPr>
          <a:xfrm>
            <a:off x="639683" y="2934031"/>
            <a:ext cx="3296214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2,677 Backlog Tasks Analyzed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0.7494 ROC-AUC 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$20,000 Capital Allocated across 114 Tasks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$366,509 Expected Penalties Saved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1,733% Return on Investment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C6C02F-0DEE-A4CC-730A-A3E72B31AAB4}"/>
              </a:ext>
            </a:extLst>
          </p:cNvPr>
          <p:cNvSpPr txBox="1"/>
          <p:nvPr/>
        </p:nvSpPr>
        <p:spPr>
          <a:xfrm>
            <a:off x="530352" y="2241797"/>
            <a:ext cx="6107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E1E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Summary: Transforming Dispatch Efficiency</a:t>
            </a:r>
          </a:p>
        </p:txBody>
      </p:sp>
    </p:spTree>
    <p:extLst>
      <p:ext uri="{BB962C8B-B14F-4D97-AF65-F5344CB8AC3E}">
        <p14:creationId xmlns:p14="http://schemas.microsoft.com/office/powerpoint/2010/main" val="311487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1D07BD-379E-B79E-655E-8D7F166B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1B993-715F-46EA-D3C4-97C3771DB50F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Strategic Resource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560C6D-A413-6DDF-866E-5F06081278FD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importance.png">
            <a:extLst>
              <a:ext uri="{FF2B5EF4-FFF2-40B4-BE49-F238E27FC236}">
                <a16:creationId xmlns:a16="http://schemas.microsoft.com/office/drawing/2014/main" id="{7D0B2A01-D934-D0E8-20A6-6922DE56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967252"/>
            <a:ext cx="4956048" cy="325407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argeted_skills.png">
            <a:extLst>
              <a:ext uri="{FF2B5EF4-FFF2-40B4-BE49-F238E27FC236}">
                <a16:creationId xmlns:a16="http://schemas.microsoft.com/office/drawing/2014/main" id="{911CDD21-1F33-61AA-5229-8C146D508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587" y="983666"/>
            <a:ext cx="5544047" cy="325407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2105B8-B686-BC0F-2698-D5CF4DE3119E}"/>
              </a:ext>
            </a:extLst>
          </p:cNvPr>
          <p:cNvSpPr txBox="1"/>
          <p:nvPr/>
        </p:nvSpPr>
        <p:spPr>
          <a:xfrm>
            <a:off x="530352" y="4186681"/>
            <a:ext cx="4767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E1E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Risk Modeling: Key Failure Drivers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43401-0589-25E6-5C1B-7B933E4726ED}"/>
              </a:ext>
            </a:extLst>
          </p:cNvPr>
          <p:cNvSpPr txBox="1"/>
          <p:nvPr/>
        </p:nvSpPr>
        <p:spPr>
          <a:xfrm>
            <a:off x="5945587" y="4196620"/>
            <a:ext cx="4767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E1E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Skill Investment &amp; ROI by Plumbing Skill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436A8-7DA0-1571-B885-CFAC7F2B28FD}"/>
              </a:ext>
            </a:extLst>
          </p:cNvPr>
          <p:cNvSpPr txBox="1"/>
          <p:nvPr/>
        </p:nvSpPr>
        <p:spPr>
          <a:xfrm>
            <a:off x="2913955" y="4535174"/>
            <a:ext cx="6577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E1E"/>
                </a:solidFill>
              </a:defRPr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Recommendations &amp; Implementation Roadmap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D10B3-55E0-7D76-98F1-A4FE968E6816}"/>
              </a:ext>
            </a:extLst>
          </p:cNvPr>
          <p:cNvSpPr txBox="1"/>
          <p:nvPr/>
        </p:nvSpPr>
        <p:spPr>
          <a:xfrm>
            <a:off x="1010412" y="5143661"/>
            <a:ext cx="44491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Machine Learning Risk Scoring in Dispatch CRM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Skill Training on Sewer Diagnostics (COAX.O) and Trenchless Repair (COAX.P)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8566D-D040-6441-B2B7-A862E86FF399}"/>
              </a:ext>
            </a:extLst>
          </p:cNvPr>
          <p:cNvSpPr txBox="1"/>
          <p:nvPr/>
        </p:nvSpPr>
        <p:spPr>
          <a:xfrm>
            <a:off x="6547967" y="5172462"/>
            <a:ext cx="50112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Proactive Re-confirmations for Long Lead Times (&gt;48h)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Capital Allocation Budget to $100k for $1.8M+ Penalty Prevention</a:t>
            </a:r>
          </a:p>
        </p:txBody>
      </p:sp>
    </p:spTree>
    <p:extLst>
      <p:ext uri="{BB962C8B-B14F-4D97-AF65-F5344CB8AC3E}">
        <p14:creationId xmlns:p14="http://schemas.microsoft.com/office/powerpoint/2010/main" val="50448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427B-42FB-7E66-E9B5-ACC87953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827116-2A20-C95F-4C0F-609984CF9EC2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Technician Scheduling &amp; Duration Prediction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E7FBA-E537-F1A2-3174-7172F4A400BE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278B7-1D83-47A0-0D11-CFBD63B55F99}"/>
              </a:ext>
            </a:extLst>
          </p:cNvPr>
          <p:cNvSpPr txBox="1"/>
          <p:nvPr/>
        </p:nvSpPr>
        <p:spPr>
          <a:xfrm>
            <a:off x="501331" y="1026079"/>
            <a:ext cx="72511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Optimizing Technician Assignments and Reducing Travel Time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FD8F0-C603-1176-33D9-DAD976BB8E4C}"/>
              </a:ext>
            </a:extLst>
          </p:cNvPr>
          <p:cNvSpPr txBox="1"/>
          <p:nvPr/>
        </p:nvSpPr>
        <p:spPr>
          <a:xfrm>
            <a:off x="530352" y="1426189"/>
            <a:ext cx="11078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 scheduling involves assigning service tasks while considering task duration, travel time and scheduling constraints. Inefficient scheduling can increase travel time and make resource utilization less effective.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0C9A0-0A39-AEB8-C801-DFE18CE18E9D}"/>
              </a:ext>
            </a:extLst>
          </p:cNvPr>
          <p:cNvSpPr txBox="1"/>
          <p:nvPr/>
        </p:nvSpPr>
        <p:spPr>
          <a:xfrm>
            <a:off x="530351" y="2292491"/>
            <a:ext cx="5433127" cy="132343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None/>
            </a:pPr>
            <a:r>
              <a:rPr lang="en-US" sz="1600" b="1" dirty="0"/>
              <a:t>Objectives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Predict service-task duration using machine learning.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Compare different technician scheduling algorithms.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A48D29-835E-A470-C38C-266A9518E6A9}"/>
              </a:ext>
            </a:extLst>
          </p:cNvPr>
          <p:cNvSpPr txBox="1"/>
          <p:nvPr/>
        </p:nvSpPr>
        <p:spPr>
          <a:xfrm>
            <a:off x="6175777" y="2569490"/>
            <a:ext cx="54331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Reduce estimated travel time while maintaining task coverage.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Validate generated schedules against operational constraints.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9CBFE8-E530-CE18-819B-5A47A14D44C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4380A8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351" y="3919386"/>
            <a:ext cx="10979162" cy="224287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6F62FE-D041-F721-57C2-6D670FE5B27E}"/>
              </a:ext>
            </a:extLst>
          </p:cNvPr>
          <p:cNvSpPr txBox="1"/>
          <p:nvPr/>
        </p:nvSpPr>
        <p:spPr>
          <a:xfrm>
            <a:off x="501331" y="6211957"/>
            <a:ext cx="10979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Evaluated: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Append-Only, Route Insertion, Local Search, Enhanced Local Search</a:t>
            </a:r>
          </a:p>
        </p:txBody>
      </p:sp>
    </p:spTree>
    <p:extLst>
      <p:ext uri="{BB962C8B-B14F-4D97-AF65-F5344CB8AC3E}">
        <p14:creationId xmlns:p14="http://schemas.microsoft.com/office/powerpoint/2010/main" val="3345762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F8D4-60B0-644F-BBD6-4B754FD4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01AC9D-3917-C119-F361-F22525A63116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Technician Scheduling &amp; Duration Prediction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6D18FC-7546-DF3F-38CB-81F683AF1AA1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71337-030B-DF1C-0404-15C1B9C80993}"/>
              </a:ext>
            </a:extLst>
          </p:cNvPr>
          <p:cNvSpPr txBox="1"/>
          <p:nvPr/>
        </p:nvSpPr>
        <p:spPr>
          <a:xfrm>
            <a:off x="501332" y="1026079"/>
            <a:ext cx="6136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Results and Performance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44CB9-A2C7-23A3-E2BA-F32CF762034B}"/>
              </a:ext>
            </a:extLst>
          </p:cNvPr>
          <p:cNvSpPr txBox="1"/>
          <p:nvPr/>
        </p:nvSpPr>
        <p:spPr>
          <a:xfrm>
            <a:off x="530352" y="1565300"/>
            <a:ext cx="6107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Task-Duration Prediction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5BEA48-3A39-2F54-8E24-BF2BA0646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087022"/>
              </p:ext>
            </p:extLst>
          </p:nvPr>
        </p:nvGraphicFramePr>
        <p:xfrm>
          <a:off x="684212" y="1944529"/>
          <a:ext cx="10586762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93381">
                  <a:extLst>
                    <a:ext uri="{9D8B030D-6E8A-4147-A177-3AD203B41FA5}">
                      <a16:colId xmlns:a16="http://schemas.microsoft.com/office/drawing/2014/main" val="3728051553"/>
                    </a:ext>
                  </a:extLst>
                </a:gridCol>
                <a:gridCol w="5293381">
                  <a:extLst>
                    <a:ext uri="{9D8B030D-6E8A-4147-A177-3AD203B41FA5}">
                      <a16:colId xmlns:a16="http://schemas.microsoft.com/office/drawing/2014/main" val="838051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88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44.55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607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25.83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2672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9DBF15-672A-7E02-38A7-804FAB8A57B0}"/>
              </a:ext>
            </a:extLst>
          </p:cNvPr>
          <p:cNvSpPr txBox="1"/>
          <p:nvPr/>
        </p:nvSpPr>
        <p:spPr>
          <a:xfrm>
            <a:off x="542214" y="3096563"/>
            <a:ext cx="11107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reduced mean absolute error by approximately 42.0% compared with the median baseline.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2D4FC29-7571-9C98-3FD5-805631128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14" y="3550534"/>
            <a:ext cx="3884541" cy="264169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100F9B5-0CAE-3FE8-DB47-233D6DFFE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676" y="3550534"/>
            <a:ext cx="3732708" cy="264169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86DC18D-3EBA-0896-7F9B-67187DD1D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306" y="3550534"/>
            <a:ext cx="3130260" cy="264169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FC2B233-1E1D-6D92-E747-B51028B0F5BA}"/>
              </a:ext>
            </a:extLst>
          </p:cNvPr>
          <p:cNvSpPr/>
          <p:nvPr/>
        </p:nvSpPr>
        <p:spPr>
          <a:xfrm>
            <a:off x="451637" y="6220680"/>
            <a:ext cx="388454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Time: Enhanced Local Search reduced travel by 20.3%.</a:t>
            </a:r>
            <a:endParaRPr lang="en-US" sz="1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30060E-1D80-75A0-0395-AA11AD972210}"/>
              </a:ext>
            </a:extLst>
          </p:cNvPr>
          <p:cNvSpPr/>
          <p:nvPr/>
        </p:nvSpPr>
        <p:spPr>
          <a:xfrm>
            <a:off x="4426755" y="6220680"/>
            <a:ext cx="388454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Coverage: All methods achieved 98.93% coverage.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05CB71-2DCA-2619-0195-8B248C6C935E}"/>
              </a:ext>
            </a:extLst>
          </p:cNvPr>
          <p:cNvSpPr/>
          <p:nvPr/>
        </p:nvSpPr>
        <p:spPr>
          <a:xfrm>
            <a:off x="8207472" y="6249134"/>
            <a:ext cx="388454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Used: Optimized methods reduced routes from 748 to 637.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5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4FAC91-5009-C582-0CB3-21BF6D02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01343-01DA-C053-1358-2006BCFD1FE9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Technician Scheduling &amp; Duration Prediction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BFAE84-4143-6E90-4EF0-97BE00A26398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3C980-48EA-65B9-70ED-62384E3470C1}"/>
              </a:ext>
            </a:extLst>
          </p:cNvPr>
          <p:cNvSpPr txBox="1"/>
          <p:nvPr/>
        </p:nvSpPr>
        <p:spPr>
          <a:xfrm>
            <a:off x="501332" y="1026079"/>
            <a:ext cx="4865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Findings, Limitations and Conclusion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FEA97-8035-A38A-48A1-DB000B02F39F}"/>
              </a:ext>
            </a:extLst>
          </p:cNvPr>
          <p:cNvSpPr txBox="1"/>
          <p:nvPr/>
        </p:nvSpPr>
        <p:spPr>
          <a:xfrm>
            <a:off x="530352" y="1426189"/>
            <a:ext cx="1143636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Local Search achieved the lowest estimated travel time among the four evaluated scheduling methods.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predicted task duration more accurately than the median baseline on the evaluated chronological test 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enhanced scheduling solution passed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28,261 validation checks with zero reported errors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previously documented validation run.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5BDA1-BDF3-1BD5-9521-3598BB1666B5}"/>
              </a:ext>
            </a:extLst>
          </p:cNvPr>
          <p:cNvSpPr txBox="1"/>
          <p:nvPr/>
        </p:nvSpPr>
        <p:spPr>
          <a:xfrm>
            <a:off x="530352" y="2780406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Limitation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C1CAE1-16C4-FFEA-D2D3-87150D528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493" y="3180516"/>
            <a:ext cx="4649611" cy="169959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7F4167-2494-FC70-E69D-A07B83414690}"/>
              </a:ext>
            </a:extLst>
          </p:cNvPr>
          <p:cNvSpPr txBox="1"/>
          <p:nvPr/>
        </p:nvSpPr>
        <p:spPr>
          <a:xfrm>
            <a:off x="5569374" y="2915708"/>
            <a:ext cx="606413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cancellation detection using class-appropriate evaluation and threshold selection.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duration predictions using representative plumbing-service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scheduling performance under realistic technician availability and travel constraints.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the 24 unassigned tasks.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complete workflow before claiming real-world operational savings.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A88237-E41B-56A5-ADFA-B8F3F927B4C5}"/>
              </a:ext>
            </a:extLst>
          </p:cNvPr>
          <p:cNvSpPr txBox="1"/>
          <p:nvPr/>
        </p:nvSpPr>
        <p:spPr>
          <a:xfrm>
            <a:off x="530352" y="5196804"/>
            <a:ext cx="11236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Local Search reduced estimated travel time by approximately 20.3% relative to Greedy Append-Only while maintaining 98.93% task coverage. Ridge Regression also improved task-duration prediction error compared with the median baseline. Further validation is needed before applying these results to live plumbing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89021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4ABF-8F7D-2CA1-0901-61054A12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3D1D1-D751-C30D-4159-CB144540F66F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Water-Leak Detection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D15F7-7C5A-10EE-1CC2-939AE2415E74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D19F3-4222-D0C9-A74C-E3EE016F6D07}"/>
              </a:ext>
            </a:extLst>
          </p:cNvPr>
          <p:cNvSpPr txBox="1"/>
          <p:nvPr/>
        </p:nvSpPr>
        <p:spPr>
          <a:xfrm>
            <a:off x="501332" y="1026079"/>
            <a:ext cx="3255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and preprocessing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476A3-17A1-7E0A-409E-F98E7037E79D}"/>
              </a:ext>
            </a:extLst>
          </p:cNvPr>
          <p:cNvSpPr txBox="1"/>
          <p:nvPr/>
        </p:nvSpPr>
        <p:spPr>
          <a:xfrm>
            <a:off x="530352" y="1426189"/>
            <a:ext cx="11078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can lead to water wastage and infrastructure damage. Detecting leaks from sensor signals can support faster identification of abnormal conditions.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F8893-5800-672C-B00D-285D684EDBA0}"/>
              </a:ext>
            </a:extLst>
          </p:cNvPr>
          <p:cNvSpPr/>
          <p:nvPr/>
        </p:nvSpPr>
        <p:spPr>
          <a:xfrm>
            <a:off x="724446" y="5018162"/>
            <a:ext cx="1728216" cy="90370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CF4EA-4508-3A9B-1842-B1805B754E51}"/>
              </a:ext>
            </a:extLst>
          </p:cNvPr>
          <p:cNvSpPr/>
          <p:nvPr/>
        </p:nvSpPr>
        <p:spPr>
          <a:xfrm>
            <a:off x="3546895" y="5026067"/>
            <a:ext cx="1728216" cy="90370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2AB61-F86C-5F34-51C9-6B9C70BF8BFA}"/>
              </a:ext>
            </a:extLst>
          </p:cNvPr>
          <p:cNvSpPr/>
          <p:nvPr/>
        </p:nvSpPr>
        <p:spPr>
          <a:xfrm>
            <a:off x="6408962" y="5018162"/>
            <a:ext cx="1728216" cy="90370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604851-B921-8A5E-056A-A9575AAADCC3}"/>
              </a:ext>
            </a:extLst>
          </p:cNvPr>
          <p:cNvSpPr/>
          <p:nvPr/>
        </p:nvSpPr>
        <p:spPr>
          <a:xfrm>
            <a:off x="9243602" y="4989932"/>
            <a:ext cx="1728216" cy="90370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A491A8-C727-CCFD-68C9-FB01560A3661}"/>
              </a:ext>
            </a:extLst>
          </p:cNvPr>
          <p:cNvSpPr/>
          <p:nvPr/>
        </p:nvSpPr>
        <p:spPr>
          <a:xfrm>
            <a:off x="7949725" y="2320786"/>
            <a:ext cx="3319272" cy="232257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CB3F7B-1E71-8142-45BE-31E7E2C369A3}"/>
              </a:ext>
            </a:extLst>
          </p:cNvPr>
          <p:cNvSpPr/>
          <p:nvPr/>
        </p:nvSpPr>
        <p:spPr>
          <a:xfrm>
            <a:off x="4184906" y="2394836"/>
            <a:ext cx="3319272" cy="232257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391A8C-BAEC-87B3-A832-E0A5FFB63D77}"/>
              </a:ext>
            </a:extLst>
          </p:cNvPr>
          <p:cNvSpPr/>
          <p:nvPr/>
        </p:nvSpPr>
        <p:spPr>
          <a:xfrm>
            <a:off x="492188" y="2410030"/>
            <a:ext cx="3319272" cy="232257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F29D96-6AF0-8E97-18CC-1DD8509C7E3E}"/>
              </a:ext>
            </a:extLst>
          </p:cNvPr>
          <p:cNvSpPr txBox="1"/>
          <p:nvPr/>
        </p:nvSpPr>
        <p:spPr>
          <a:xfrm>
            <a:off x="11062652" y="6820231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1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BE911-F50F-75BE-C3AD-8F26C4272A6A}"/>
              </a:ext>
            </a:extLst>
          </p:cNvPr>
          <p:cNvSpPr txBox="1"/>
          <p:nvPr/>
        </p:nvSpPr>
        <p:spPr>
          <a:xfrm>
            <a:off x="575242" y="2736644"/>
            <a:ext cx="3044952" cy="3385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Source recordings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F26E04-D7CA-4BA0-0D07-E52213654A8B}"/>
              </a:ext>
            </a:extLst>
          </p:cNvPr>
          <p:cNvSpPr txBox="1"/>
          <p:nvPr/>
        </p:nvSpPr>
        <p:spPr>
          <a:xfrm>
            <a:off x="780983" y="3148439"/>
            <a:ext cx="2633471" cy="1015663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LO_NL_0.18 LPS_A1 — No Leak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Ø"/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LO_OL_0.18 LPS_A1 — Orifice Leak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6EB50A-3F9A-EB18-A411-99485C934386}"/>
              </a:ext>
            </a:extLst>
          </p:cNvPr>
          <p:cNvSpPr txBox="1"/>
          <p:nvPr/>
        </p:nvSpPr>
        <p:spPr>
          <a:xfrm>
            <a:off x="4539693" y="2687502"/>
            <a:ext cx="2609697" cy="3385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Windowing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D9789A-3543-A384-AB7A-EACA84720948}"/>
              </a:ext>
            </a:extLst>
          </p:cNvPr>
          <p:cNvSpPr txBox="1"/>
          <p:nvPr/>
        </p:nvSpPr>
        <p:spPr>
          <a:xfrm>
            <a:off x="4387375" y="3180383"/>
            <a:ext cx="3044952" cy="7848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I used non-overlapping windows of 25,600 samples and discarded incomplete tails.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8379D-6B0E-4F4E-5327-AD6E26908670}"/>
              </a:ext>
            </a:extLst>
          </p:cNvPr>
          <p:cNvSpPr txBox="1"/>
          <p:nvPr/>
        </p:nvSpPr>
        <p:spPr>
          <a:xfrm>
            <a:off x="8103653" y="2712210"/>
            <a:ext cx="3044952" cy="3385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Final dataset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30B4D7-4E7A-D243-F53D-352BC544AE3F}"/>
              </a:ext>
            </a:extLst>
          </p:cNvPr>
          <p:cNvSpPr txBox="1"/>
          <p:nvPr/>
        </p:nvSpPr>
        <p:spPr>
          <a:xfrm>
            <a:off x="8137178" y="3220408"/>
            <a:ext cx="3044952" cy="58477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70 windows total: 35 No Leak and 35 Orifice Leak.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155764-9A06-111D-9F95-F33D6C0647A1}"/>
              </a:ext>
            </a:extLst>
          </p:cNvPr>
          <p:cNvSpPr txBox="1"/>
          <p:nvPr/>
        </p:nvSpPr>
        <p:spPr>
          <a:xfrm>
            <a:off x="605574" y="5106584"/>
            <a:ext cx="1965960" cy="307777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Raw signals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D3384-A004-4F97-BF66-BC075DD29050}"/>
              </a:ext>
            </a:extLst>
          </p:cNvPr>
          <p:cNvSpPr txBox="1"/>
          <p:nvPr/>
        </p:nvSpPr>
        <p:spPr>
          <a:xfrm>
            <a:off x="587286" y="5454056"/>
            <a:ext cx="2002536" cy="261610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1,826,571 samples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D3E13-CFEA-5AF6-2AFD-1E25C73CE4B5}"/>
              </a:ext>
            </a:extLst>
          </p:cNvPr>
          <p:cNvSpPr txBox="1"/>
          <p:nvPr/>
        </p:nvSpPr>
        <p:spPr>
          <a:xfrm>
            <a:off x="3458502" y="5106584"/>
            <a:ext cx="1965960" cy="307777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Windowing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DA0CC0-A5F8-5A5B-662E-C60536BB79CB}"/>
              </a:ext>
            </a:extLst>
          </p:cNvPr>
          <p:cNvSpPr txBox="1"/>
          <p:nvPr/>
        </p:nvSpPr>
        <p:spPr>
          <a:xfrm>
            <a:off x="3440214" y="5454056"/>
            <a:ext cx="2002536" cy="261610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25,600 samples/window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2AE463-D3C2-B914-B8D8-BF85D74916EF}"/>
              </a:ext>
            </a:extLst>
          </p:cNvPr>
          <p:cNvSpPr txBox="1"/>
          <p:nvPr/>
        </p:nvSpPr>
        <p:spPr>
          <a:xfrm>
            <a:off x="6311430" y="5106584"/>
            <a:ext cx="1965960" cy="307777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Feature extraction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D34E5-D755-F66F-D8B5-C13CA99302A1}"/>
              </a:ext>
            </a:extLst>
          </p:cNvPr>
          <p:cNvSpPr txBox="1"/>
          <p:nvPr/>
        </p:nvSpPr>
        <p:spPr>
          <a:xfrm>
            <a:off x="6293142" y="5454056"/>
            <a:ext cx="2002536" cy="261610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9 descriptive features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FE754-AB45-5020-A114-3EED19E5E1FB}"/>
              </a:ext>
            </a:extLst>
          </p:cNvPr>
          <p:cNvSpPr txBox="1"/>
          <p:nvPr/>
        </p:nvSpPr>
        <p:spPr>
          <a:xfrm>
            <a:off x="9164357" y="5106584"/>
            <a:ext cx="1965960" cy="307777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Model inputs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5EBD62-4CD6-1D90-ED82-A51C12B09216}"/>
              </a:ext>
            </a:extLst>
          </p:cNvPr>
          <p:cNvSpPr txBox="1"/>
          <p:nvPr/>
        </p:nvSpPr>
        <p:spPr>
          <a:xfrm>
            <a:off x="9146069" y="5454056"/>
            <a:ext cx="2002536" cy="261610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3541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7 selected features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51BA55-28BA-40FE-47B4-29871BC4F26C}"/>
              </a:ext>
            </a:extLst>
          </p:cNvPr>
          <p:cNvSpPr txBox="1"/>
          <p:nvPr/>
        </p:nvSpPr>
        <p:spPr>
          <a:xfrm>
            <a:off x="693356" y="6230519"/>
            <a:ext cx="11078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E35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Extracted: mean, standard deviation, RMS, centered RMS, peak-to-peak, absolute peak, crest factor, skewness and excess kurtosis.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CB96842-77BF-CBC3-57B7-3350DAFBD8DA}"/>
              </a:ext>
            </a:extLst>
          </p:cNvPr>
          <p:cNvSpPr/>
          <p:nvPr/>
        </p:nvSpPr>
        <p:spPr>
          <a:xfrm>
            <a:off x="2550194" y="5371978"/>
            <a:ext cx="877827" cy="261610"/>
          </a:xfrm>
          <a:prstGeom prst="rightArrow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C297468-1E7B-6EA9-1B66-28738B0BD56E}"/>
              </a:ext>
            </a:extLst>
          </p:cNvPr>
          <p:cNvSpPr/>
          <p:nvPr/>
        </p:nvSpPr>
        <p:spPr>
          <a:xfrm>
            <a:off x="5405627" y="5354939"/>
            <a:ext cx="877827" cy="261610"/>
          </a:xfrm>
          <a:prstGeom prst="rightArrow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CE3D01E-8EE3-F96A-96F8-641005ED373F}"/>
              </a:ext>
            </a:extLst>
          </p:cNvPr>
          <p:cNvSpPr/>
          <p:nvPr/>
        </p:nvSpPr>
        <p:spPr>
          <a:xfrm>
            <a:off x="8286530" y="5338920"/>
            <a:ext cx="877827" cy="261610"/>
          </a:xfrm>
          <a:prstGeom prst="rightArrow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08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F275-D072-A16D-75C8-260667AB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15295-4028-5691-ECFB-EC88DD1D9B2C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Water-Leak Detection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E7569-F5B6-902B-9218-A9C8AADF1454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DA3DF-C560-E127-56A4-0FD6C1F4D032}"/>
              </a:ext>
            </a:extLst>
          </p:cNvPr>
          <p:cNvSpPr txBox="1"/>
          <p:nvPr/>
        </p:nvSpPr>
        <p:spPr>
          <a:xfrm>
            <a:off x="501331" y="1026079"/>
            <a:ext cx="2877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and evaluation</a:t>
            </a:r>
            <a:endParaRPr lang="en-IN" sz="20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3E6846-7227-02ED-2F17-9FE1D8C9E4BC}"/>
              </a:ext>
            </a:extLst>
          </p:cNvPr>
          <p:cNvSpPr txBox="1"/>
          <p:nvPr/>
        </p:nvSpPr>
        <p:spPr>
          <a:xfrm>
            <a:off x="686595" y="1881676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Input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20D85-2F50-F079-4A1B-788AC9C1D58F}"/>
              </a:ext>
            </a:extLst>
          </p:cNvPr>
          <p:cNvSpPr txBox="1"/>
          <p:nvPr/>
        </p:nvSpPr>
        <p:spPr>
          <a:xfrm>
            <a:off x="686595" y="2265724"/>
            <a:ext cx="2953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rPr dirty="0"/>
              <a:t>Standard deviation, RMS, peak-to-peak, absolute peak, crest factor, skewness and excess kurtosis.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19F05-F985-B4C8-2B14-A470DFCB4494}"/>
              </a:ext>
            </a:extLst>
          </p:cNvPr>
          <p:cNvSpPr txBox="1"/>
          <p:nvPr/>
        </p:nvSpPr>
        <p:spPr>
          <a:xfrm>
            <a:off x="4435635" y="1881676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Evaluation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7A824-345B-1B6A-4857-A6289AC6C240}"/>
              </a:ext>
            </a:extLst>
          </p:cNvPr>
          <p:cNvSpPr txBox="1"/>
          <p:nvPr/>
        </p:nvSpPr>
        <p:spPr>
          <a:xfrm>
            <a:off x="4435635" y="2265724"/>
            <a:ext cx="2953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rPr dirty="0"/>
              <a:t>Stratified 70/15/15 train-validation-test split; 5-fold CV on training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6F032-9EE0-D8F9-AA74-6A19AE5CDCFA}"/>
              </a:ext>
            </a:extLst>
          </p:cNvPr>
          <p:cNvSpPr txBox="1"/>
          <p:nvPr/>
        </p:nvSpPr>
        <p:spPr>
          <a:xfrm>
            <a:off x="8184675" y="1881676"/>
            <a:ext cx="2953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t>Classifier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F5E76-A099-373E-C495-137D4CDC22B6}"/>
              </a:ext>
            </a:extLst>
          </p:cNvPr>
          <p:cNvSpPr txBox="1"/>
          <p:nvPr/>
        </p:nvSpPr>
        <p:spPr>
          <a:xfrm>
            <a:off x="8184675" y="2265724"/>
            <a:ext cx="29535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E3541"/>
                </a:solidFill>
                <a:latin typeface="Aptos"/>
              </a:defRPr>
            </a:pPr>
            <a:r>
              <a:t>Random Forest with 300 trees and balanced class weights.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99ECF-A00B-AF6B-DDFA-185C64D61BE1}"/>
              </a:ext>
            </a:extLst>
          </p:cNvPr>
          <p:cNvSpPr txBox="1"/>
          <p:nvPr/>
        </p:nvSpPr>
        <p:spPr>
          <a:xfrm>
            <a:off x="650019" y="3902500"/>
            <a:ext cx="2148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rPr dirty="0">
                <a:solidFill>
                  <a:schemeClr val="accent1"/>
                </a:solidFill>
              </a:rPr>
              <a:t>1.00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8983B-BDD6-355A-9A82-7225B7F3436F}"/>
              </a:ext>
            </a:extLst>
          </p:cNvPr>
          <p:cNvSpPr txBox="1"/>
          <p:nvPr/>
        </p:nvSpPr>
        <p:spPr>
          <a:xfrm>
            <a:off x="650019" y="43871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B5CC9-1777-AA34-C4A8-2C15F96F4CD9}"/>
              </a:ext>
            </a:extLst>
          </p:cNvPr>
          <p:cNvSpPr txBox="1"/>
          <p:nvPr/>
        </p:nvSpPr>
        <p:spPr>
          <a:xfrm>
            <a:off x="3484659" y="3902500"/>
            <a:ext cx="2148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rPr dirty="0">
                <a:solidFill>
                  <a:schemeClr val="accent1"/>
                </a:solidFill>
              </a:rPr>
              <a:t>1.00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94B52D-0E59-5131-CA6F-9BB9822F0D13}"/>
              </a:ext>
            </a:extLst>
          </p:cNvPr>
          <p:cNvSpPr txBox="1"/>
          <p:nvPr/>
        </p:nvSpPr>
        <p:spPr>
          <a:xfrm>
            <a:off x="3484659" y="43871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9199A3-51D7-C92B-B067-3B819465DFC5}"/>
              </a:ext>
            </a:extLst>
          </p:cNvPr>
          <p:cNvSpPr txBox="1"/>
          <p:nvPr/>
        </p:nvSpPr>
        <p:spPr>
          <a:xfrm>
            <a:off x="6319298" y="3902500"/>
            <a:ext cx="2148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rPr dirty="0">
                <a:solidFill>
                  <a:schemeClr val="accent1"/>
                </a:solidFill>
              </a:rPr>
              <a:t>1.00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CF5731-4D70-B94D-29A5-AC2FADF2C08E}"/>
              </a:ext>
            </a:extLst>
          </p:cNvPr>
          <p:cNvSpPr txBox="1"/>
          <p:nvPr/>
        </p:nvSpPr>
        <p:spPr>
          <a:xfrm>
            <a:off x="6319298" y="43871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8CF43-0CE2-CF4D-5D19-F1B792E04FA1}"/>
              </a:ext>
            </a:extLst>
          </p:cNvPr>
          <p:cNvSpPr txBox="1"/>
          <p:nvPr/>
        </p:nvSpPr>
        <p:spPr>
          <a:xfrm>
            <a:off x="9153939" y="3902500"/>
            <a:ext cx="2148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B9184"/>
                </a:solidFill>
                <a:latin typeface="Aptos Display"/>
              </a:defRPr>
            </a:pPr>
            <a:r>
              <a:rPr dirty="0">
                <a:solidFill>
                  <a:schemeClr val="accent1"/>
                </a:solidFill>
              </a:rPr>
              <a:t>1.00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1A7AA-024C-C1F1-4861-B3E43090BA61}"/>
              </a:ext>
            </a:extLst>
          </p:cNvPr>
          <p:cNvSpPr txBox="1"/>
          <p:nvPr/>
        </p:nvSpPr>
        <p:spPr>
          <a:xfrm>
            <a:off x="9153939" y="43871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A44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383B4-8AA8-3EC5-6477-7C8D83E17C34}"/>
              </a:ext>
            </a:extLst>
          </p:cNvPr>
          <p:cNvSpPr txBox="1"/>
          <p:nvPr/>
        </p:nvSpPr>
        <p:spPr>
          <a:xfrm>
            <a:off x="650019" y="5537563"/>
            <a:ext cx="10424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3541"/>
                </a:solidFill>
                <a:latin typeface="Aptos"/>
              </a:defRPr>
            </a:pPr>
            <a:r>
              <a:rPr dirty="0"/>
              <a:t>Test set: 11 windows (6 No Leak, 5 Orifice Leak); all 11 were classified correctly.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BC2F2B-7E99-34A2-1F27-91B68BE23191}"/>
              </a:ext>
            </a:extLst>
          </p:cNvPr>
          <p:cNvSpPr/>
          <p:nvPr/>
        </p:nvSpPr>
        <p:spPr>
          <a:xfrm>
            <a:off x="851187" y="3591604"/>
            <a:ext cx="10287000" cy="148132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91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4513-DB5D-3494-561D-1835DD11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226DC-8107-AD70-14D2-FF394A755D4D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Water-Leak Detection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2078B6-B3E9-144A-3BA5-E74B23F13986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4263C-229A-15ED-4390-3551C345B450}"/>
              </a:ext>
            </a:extLst>
          </p:cNvPr>
          <p:cNvSpPr txBox="1"/>
          <p:nvPr/>
        </p:nvSpPr>
        <p:spPr>
          <a:xfrm>
            <a:off x="501332" y="1026079"/>
            <a:ext cx="4915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value, limitations and next steps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F46CF7-6A0B-2900-C180-B9E3D7010803}"/>
              </a:ext>
            </a:extLst>
          </p:cNvPr>
          <p:cNvSpPr/>
          <p:nvPr/>
        </p:nvSpPr>
        <p:spPr>
          <a:xfrm>
            <a:off x="501332" y="1700448"/>
            <a:ext cx="3419856" cy="1939351"/>
          </a:xfrm>
          <a:custGeom>
            <a:avLst/>
            <a:gdLst>
              <a:gd name="connsiteX0" fmla="*/ 0 w 3419856"/>
              <a:gd name="connsiteY0" fmla="*/ 284056 h 1939351"/>
              <a:gd name="connsiteX1" fmla="*/ 182880 w 3419856"/>
              <a:gd name="connsiteY1" fmla="*/ 137752 h 1939351"/>
              <a:gd name="connsiteX2" fmla="*/ 292608 w 3419856"/>
              <a:gd name="connsiteY2" fmla="*/ 101176 h 1939351"/>
              <a:gd name="connsiteX3" fmla="*/ 338328 w 3419856"/>
              <a:gd name="connsiteY3" fmla="*/ 110320 h 1939351"/>
              <a:gd name="connsiteX4" fmla="*/ 576072 w 3419856"/>
              <a:gd name="connsiteY4" fmla="*/ 73744 h 1939351"/>
              <a:gd name="connsiteX5" fmla="*/ 658368 w 3419856"/>
              <a:gd name="connsiteY5" fmla="*/ 156040 h 1939351"/>
              <a:gd name="connsiteX6" fmla="*/ 685800 w 3419856"/>
              <a:gd name="connsiteY6" fmla="*/ 165184 h 1939351"/>
              <a:gd name="connsiteX7" fmla="*/ 722376 w 3419856"/>
              <a:gd name="connsiteY7" fmla="*/ 128608 h 1939351"/>
              <a:gd name="connsiteX8" fmla="*/ 850392 w 3419856"/>
              <a:gd name="connsiteY8" fmla="*/ 165184 h 1939351"/>
              <a:gd name="connsiteX9" fmla="*/ 941832 w 3419856"/>
              <a:gd name="connsiteY9" fmla="*/ 137752 h 1939351"/>
              <a:gd name="connsiteX10" fmla="*/ 987552 w 3419856"/>
              <a:gd name="connsiteY10" fmla="*/ 128608 h 1939351"/>
              <a:gd name="connsiteX11" fmla="*/ 1033272 w 3419856"/>
              <a:gd name="connsiteY11" fmla="*/ 137752 h 1939351"/>
              <a:gd name="connsiteX12" fmla="*/ 1197864 w 3419856"/>
              <a:gd name="connsiteY12" fmla="*/ 92032 h 1939351"/>
              <a:gd name="connsiteX13" fmla="*/ 1316736 w 3419856"/>
              <a:gd name="connsiteY13" fmla="*/ 101176 h 1939351"/>
              <a:gd name="connsiteX14" fmla="*/ 2267712 w 3419856"/>
              <a:gd name="connsiteY14" fmla="*/ 28024 h 1939351"/>
              <a:gd name="connsiteX15" fmla="*/ 2377440 w 3419856"/>
              <a:gd name="connsiteY15" fmla="*/ 592 h 1939351"/>
              <a:gd name="connsiteX16" fmla="*/ 2459736 w 3419856"/>
              <a:gd name="connsiteY16" fmla="*/ 37168 h 1939351"/>
              <a:gd name="connsiteX17" fmla="*/ 2578608 w 3419856"/>
              <a:gd name="connsiteY17" fmla="*/ 165184 h 1939351"/>
              <a:gd name="connsiteX18" fmla="*/ 2633472 w 3419856"/>
              <a:gd name="connsiteY18" fmla="*/ 338920 h 1939351"/>
              <a:gd name="connsiteX19" fmla="*/ 2706624 w 3419856"/>
              <a:gd name="connsiteY19" fmla="*/ 421216 h 1939351"/>
              <a:gd name="connsiteX20" fmla="*/ 2724912 w 3419856"/>
              <a:gd name="connsiteY20" fmla="*/ 457792 h 1939351"/>
              <a:gd name="connsiteX21" fmla="*/ 2843784 w 3419856"/>
              <a:gd name="connsiteY21" fmla="*/ 540088 h 1939351"/>
              <a:gd name="connsiteX22" fmla="*/ 2871216 w 3419856"/>
              <a:gd name="connsiteY22" fmla="*/ 622384 h 1939351"/>
              <a:gd name="connsiteX23" fmla="*/ 2880360 w 3419856"/>
              <a:gd name="connsiteY23" fmla="*/ 722968 h 1939351"/>
              <a:gd name="connsiteX24" fmla="*/ 2953512 w 3419856"/>
              <a:gd name="connsiteY24" fmla="*/ 777832 h 1939351"/>
              <a:gd name="connsiteX25" fmla="*/ 3008376 w 3419856"/>
              <a:gd name="connsiteY25" fmla="*/ 805264 h 1939351"/>
              <a:gd name="connsiteX26" fmla="*/ 3063240 w 3419856"/>
              <a:gd name="connsiteY26" fmla="*/ 841840 h 1939351"/>
              <a:gd name="connsiteX27" fmla="*/ 3154680 w 3419856"/>
              <a:gd name="connsiteY27" fmla="*/ 1033864 h 1939351"/>
              <a:gd name="connsiteX28" fmla="*/ 3191256 w 3419856"/>
              <a:gd name="connsiteY28" fmla="*/ 1125304 h 1939351"/>
              <a:gd name="connsiteX29" fmla="*/ 3218688 w 3419856"/>
              <a:gd name="connsiteY29" fmla="*/ 1171024 h 1939351"/>
              <a:gd name="connsiteX30" fmla="*/ 3291840 w 3419856"/>
              <a:gd name="connsiteY30" fmla="*/ 1317328 h 1939351"/>
              <a:gd name="connsiteX31" fmla="*/ 3419856 w 3419856"/>
              <a:gd name="connsiteY31" fmla="*/ 1472776 h 1939351"/>
              <a:gd name="connsiteX32" fmla="*/ 3410712 w 3419856"/>
              <a:gd name="connsiteY32" fmla="*/ 1518496 h 1939351"/>
              <a:gd name="connsiteX33" fmla="*/ 3374136 w 3419856"/>
              <a:gd name="connsiteY33" fmla="*/ 1527640 h 1939351"/>
              <a:gd name="connsiteX34" fmla="*/ 3264408 w 3419856"/>
              <a:gd name="connsiteY34" fmla="*/ 1582504 h 1939351"/>
              <a:gd name="connsiteX35" fmla="*/ 3218688 w 3419856"/>
              <a:gd name="connsiteY35" fmla="*/ 1600792 h 1939351"/>
              <a:gd name="connsiteX36" fmla="*/ 3154680 w 3419856"/>
              <a:gd name="connsiteY36" fmla="*/ 1655656 h 1939351"/>
              <a:gd name="connsiteX37" fmla="*/ 3099816 w 3419856"/>
              <a:gd name="connsiteY37" fmla="*/ 1747096 h 1939351"/>
              <a:gd name="connsiteX38" fmla="*/ 2980944 w 3419856"/>
              <a:gd name="connsiteY38" fmla="*/ 1774528 h 1939351"/>
              <a:gd name="connsiteX39" fmla="*/ 2596896 w 3419856"/>
              <a:gd name="connsiteY39" fmla="*/ 1811104 h 1939351"/>
              <a:gd name="connsiteX40" fmla="*/ 2066544 w 3419856"/>
              <a:gd name="connsiteY40" fmla="*/ 1939120 h 1939351"/>
              <a:gd name="connsiteX41" fmla="*/ 1783080 w 3419856"/>
              <a:gd name="connsiteY41" fmla="*/ 1884256 h 1939351"/>
              <a:gd name="connsiteX42" fmla="*/ 1408176 w 3419856"/>
              <a:gd name="connsiteY42" fmla="*/ 1865968 h 1939351"/>
              <a:gd name="connsiteX43" fmla="*/ 1371600 w 3419856"/>
              <a:gd name="connsiteY43" fmla="*/ 1856824 h 1939351"/>
              <a:gd name="connsiteX44" fmla="*/ 1234440 w 3419856"/>
              <a:gd name="connsiteY44" fmla="*/ 1801960 h 1939351"/>
              <a:gd name="connsiteX45" fmla="*/ 841248 w 3419856"/>
              <a:gd name="connsiteY45" fmla="*/ 1774528 h 1939351"/>
              <a:gd name="connsiteX46" fmla="*/ 694944 w 3419856"/>
              <a:gd name="connsiteY46" fmla="*/ 1737952 h 1939351"/>
              <a:gd name="connsiteX47" fmla="*/ 530352 w 3419856"/>
              <a:gd name="connsiteY47" fmla="*/ 1673944 h 1939351"/>
              <a:gd name="connsiteX48" fmla="*/ 466344 w 3419856"/>
              <a:gd name="connsiteY48" fmla="*/ 1701376 h 1939351"/>
              <a:gd name="connsiteX49" fmla="*/ 365760 w 3419856"/>
              <a:gd name="connsiteY49" fmla="*/ 1756240 h 1939351"/>
              <a:gd name="connsiteX50" fmla="*/ 201168 w 3419856"/>
              <a:gd name="connsiteY50" fmla="*/ 1646512 h 1939351"/>
              <a:gd name="connsiteX51" fmla="*/ 118872 w 3419856"/>
              <a:gd name="connsiteY51" fmla="*/ 1472776 h 1939351"/>
              <a:gd name="connsiteX52" fmla="*/ 109728 w 3419856"/>
              <a:gd name="connsiteY52" fmla="*/ 1408768 h 1939351"/>
              <a:gd name="connsiteX53" fmla="*/ 137160 w 3419856"/>
              <a:gd name="connsiteY53" fmla="*/ 1271608 h 1939351"/>
              <a:gd name="connsiteX54" fmla="*/ 173736 w 3419856"/>
              <a:gd name="connsiteY54" fmla="*/ 1180168 h 1939351"/>
              <a:gd name="connsiteX55" fmla="*/ 182880 w 3419856"/>
              <a:gd name="connsiteY55" fmla="*/ 1024720 h 1939351"/>
              <a:gd name="connsiteX56" fmla="*/ 201168 w 3419856"/>
              <a:gd name="connsiteY56" fmla="*/ 860128 h 1939351"/>
              <a:gd name="connsiteX57" fmla="*/ 182880 w 3419856"/>
              <a:gd name="connsiteY57" fmla="*/ 494368 h 1939351"/>
              <a:gd name="connsiteX58" fmla="*/ 146304 w 3419856"/>
              <a:gd name="connsiteY58" fmla="*/ 421216 h 1939351"/>
              <a:gd name="connsiteX59" fmla="*/ 109728 w 3419856"/>
              <a:gd name="connsiteY59" fmla="*/ 366352 h 1939351"/>
              <a:gd name="connsiteX60" fmla="*/ 36576 w 3419856"/>
              <a:gd name="connsiteY60" fmla="*/ 329776 h 1939351"/>
              <a:gd name="connsiteX61" fmla="*/ 0 w 3419856"/>
              <a:gd name="connsiteY61" fmla="*/ 284056 h 193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419856" h="1939351">
                <a:moveTo>
                  <a:pt x="0" y="284056"/>
                </a:moveTo>
                <a:cubicBezTo>
                  <a:pt x="60960" y="235288"/>
                  <a:pt x="108819" y="162439"/>
                  <a:pt x="182880" y="137752"/>
                </a:cubicBezTo>
                <a:lnTo>
                  <a:pt x="292608" y="101176"/>
                </a:lnTo>
                <a:cubicBezTo>
                  <a:pt x="307848" y="104224"/>
                  <a:pt x="322836" y="111559"/>
                  <a:pt x="338328" y="110320"/>
                </a:cubicBezTo>
                <a:cubicBezTo>
                  <a:pt x="377023" y="107224"/>
                  <a:pt x="509286" y="84875"/>
                  <a:pt x="576072" y="73744"/>
                </a:cubicBezTo>
                <a:cubicBezTo>
                  <a:pt x="603504" y="101176"/>
                  <a:pt x="628565" y="131204"/>
                  <a:pt x="658368" y="156040"/>
                </a:cubicBezTo>
                <a:cubicBezTo>
                  <a:pt x="665773" y="162210"/>
                  <a:pt x="676941" y="168981"/>
                  <a:pt x="685800" y="165184"/>
                </a:cubicBezTo>
                <a:cubicBezTo>
                  <a:pt x="701648" y="158392"/>
                  <a:pt x="710184" y="140800"/>
                  <a:pt x="722376" y="128608"/>
                </a:cubicBezTo>
                <a:cubicBezTo>
                  <a:pt x="746886" y="137799"/>
                  <a:pt x="816829" y="169379"/>
                  <a:pt x="850392" y="165184"/>
                </a:cubicBezTo>
                <a:cubicBezTo>
                  <a:pt x="881968" y="161237"/>
                  <a:pt x="911084" y="145951"/>
                  <a:pt x="941832" y="137752"/>
                </a:cubicBezTo>
                <a:cubicBezTo>
                  <a:pt x="956849" y="133747"/>
                  <a:pt x="972312" y="131656"/>
                  <a:pt x="987552" y="128608"/>
                </a:cubicBezTo>
                <a:cubicBezTo>
                  <a:pt x="1002792" y="131656"/>
                  <a:pt x="1017902" y="140057"/>
                  <a:pt x="1033272" y="137752"/>
                </a:cubicBezTo>
                <a:cubicBezTo>
                  <a:pt x="1086535" y="129763"/>
                  <a:pt x="1144529" y="109810"/>
                  <a:pt x="1197864" y="92032"/>
                </a:cubicBezTo>
                <a:cubicBezTo>
                  <a:pt x="1237488" y="95080"/>
                  <a:pt x="1277011" y="102295"/>
                  <a:pt x="1316736" y="101176"/>
                </a:cubicBezTo>
                <a:cubicBezTo>
                  <a:pt x="1791599" y="87800"/>
                  <a:pt x="1827526" y="75870"/>
                  <a:pt x="2267712" y="28024"/>
                </a:cubicBezTo>
                <a:cubicBezTo>
                  <a:pt x="2304288" y="18880"/>
                  <a:pt x="2339997" y="4997"/>
                  <a:pt x="2377440" y="592"/>
                </a:cubicBezTo>
                <a:cubicBezTo>
                  <a:pt x="2414382" y="-3754"/>
                  <a:pt x="2433988" y="16570"/>
                  <a:pt x="2459736" y="37168"/>
                </a:cubicBezTo>
                <a:cubicBezTo>
                  <a:pt x="2535700" y="97939"/>
                  <a:pt x="2508156" y="74603"/>
                  <a:pt x="2578608" y="165184"/>
                </a:cubicBezTo>
                <a:cubicBezTo>
                  <a:pt x="2600224" y="251648"/>
                  <a:pt x="2598236" y="268448"/>
                  <a:pt x="2633472" y="338920"/>
                </a:cubicBezTo>
                <a:cubicBezTo>
                  <a:pt x="2653222" y="378419"/>
                  <a:pt x="2674312" y="380826"/>
                  <a:pt x="2706624" y="421216"/>
                </a:cubicBezTo>
                <a:cubicBezTo>
                  <a:pt x="2715139" y="431860"/>
                  <a:pt x="2715856" y="447604"/>
                  <a:pt x="2724912" y="457792"/>
                </a:cubicBezTo>
                <a:cubicBezTo>
                  <a:pt x="2759801" y="497042"/>
                  <a:pt x="2799214" y="514619"/>
                  <a:pt x="2843784" y="540088"/>
                </a:cubicBezTo>
                <a:cubicBezTo>
                  <a:pt x="2852928" y="567520"/>
                  <a:pt x="2865545" y="594030"/>
                  <a:pt x="2871216" y="622384"/>
                </a:cubicBezTo>
                <a:cubicBezTo>
                  <a:pt x="2877818" y="655396"/>
                  <a:pt x="2864608" y="693214"/>
                  <a:pt x="2880360" y="722968"/>
                </a:cubicBezTo>
                <a:cubicBezTo>
                  <a:pt x="2894621" y="749906"/>
                  <a:pt x="2927873" y="761350"/>
                  <a:pt x="2953512" y="777832"/>
                </a:cubicBezTo>
                <a:cubicBezTo>
                  <a:pt x="2970711" y="788889"/>
                  <a:pt x="2990715" y="794962"/>
                  <a:pt x="3008376" y="805264"/>
                </a:cubicBezTo>
                <a:cubicBezTo>
                  <a:pt x="3027361" y="816339"/>
                  <a:pt x="3044952" y="829648"/>
                  <a:pt x="3063240" y="841840"/>
                </a:cubicBezTo>
                <a:cubicBezTo>
                  <a:pt x="3111952" y="923027"/>
                  <a:pt x="3101839" y="901762"/>
                  <a:pt x="3154680" y="1033864"/>
                </a:cubicBezTo>
                <a:cubicBezTo>
                  <a:pt x="3166872" y="1064344"/>
                  <a:pt x="3174366" y="1097154"/>
                  <a:pt x="3191256" y="1125304"/>
                </a:cubicBezTo>
                <a:cubicBezTo>
                  <a:pt x="3200400" y="1140544"/>
                  <a:pt x="3210740" y="1155128"/>
                  <a:pt x="3218688" y="1171024"/>
                </a:cubicBezTo>
                <a:cubicBezTo>
                  <a:pt x="3258750" y="1251149"/>
                  <a:pt x="3211455" y="1204789"/>
                  <a:pt x="3291840" y="1317328"/>
                </a:cubicBezTo>
                <a:cubicBezTo>
                  <a:pt x="3330856" y="1371950"/>
                  <a:pt x="3419856" y="1472776"/>
                  <a:pt x="3419856" y="1472776"/>
                </a:cubicBezTo>
                <a:cubicBezTo>
                  <a:pt x="3416808" y="1488016"/>
                  <a:pt x="3420662" y="1506556"/>
                  <a:pt x="3410712" y="1518496"/>
                </a:cubicBezTo>
                <a:cubicBezTo>
                  <a:pt x="3402667" y="1528150"/>
                  <a:pt x="3385650" y="1522603"/>
                  <a:pt x="3374136" y="1527640"/>
                </a:cubicBezTo>
                <a:cubicBezTo>
                  <a:pt x="3336671" y="1544031"/>
                  <a:pt x="3301409" y="1565092"/>
                  <a:pt x="3264408" y="1582504"/>
                </a:cubicBezTo>
                <a:cubicBezTo>
                  <a:pt x="3249556" y="1589493"/>
                  <a:pt x="3233928" y="1594696"/>
                  <a:pt x="3218688" y="1600792"/>
                </a:cubicBezTo>
                <a:cubicBezTo>
                  <a:pt x="3197352" y="1619080"/>
                  <a:pt x="3172475" y="1633907"/>
                  <a:pt x="3154680" y="1655656"/>
                </a:cubicBezTo>
                <a:cubicBezTo>
                  <a:pt x="3126572" y="1690010"/>
                  <a:pt x="3149703" y="1723620"/>
                  <a:pt x="3099816" y="1747096"/>
                </a:cubicBezTo>
                <a:cubicBezTo>
                  <a:pt x="3063021" y="1764411"/>
                  <a:pt x="3020820" y="1766553"/>
                  <a:pt x="2980944" y="1774528"/>
                </a:cubicBezTo>
                <a:cubicBezTo>
                  <a:pt x="2830851" y="1804547"/>
                  <a:pt x="2784565" y="1798593"/>
                  <a:pt x="2596896" y="1811104"/>
                </a:cubicBezTo>
                <a:cubicBezTo>
                  <a:pt x="2580717" y="1815667"/>
                  <a:pt x="2173889" y="1945561"/>
                  <a:pt x="2066544" y="1939120"/>
                </a:cubicBezTo>
                <a:cubicBezTo>
                  <a:pt x="1970475" y="1933356"/>
                  <a:pt x="1878733" y="1894884"/>
                  <a:pt x="1783080" y="1884256"/>
                </a:cubicBezTo>
                <a:cubicBezTo>
                  <a:pt x="1658729" y="1870439"/>
                  <a:pt x="1533144" y="1872064"/>
                  <a:pt x="1408176" y="1865968"/>
                </a:cubicBezTo>
                <a:cubicBezTo>
                  <a:pt x="1395984" y="1862920"/>
                  <a:pt x="1383392" y="1861169"/>
                  <a:pt x="1371600" y="1856824"/>
                </a:cubicBezTo>
                <a:cubicBezTo>
                  <a:pt x="1325394" y="1839801"/>
                  <a:pt x="1283100" y="1809511"/>
                  <a:pt x="1234440" y="1801960"/>
                </a:cubicBezTo>
                <a:cubicBezTo>
                  <a:pt x="1104611" y="1781814"/>
                  <a:pt x="972312" y="1783672"/>
                  <a:pt x="841248" y="1774528"/>
                </a:cubicBezTo>
                <a:cubicBezTo>
                  <a:pt x="792480" y="1762336"/>
                  <a:pt x="743093" y="1752397"/>
                  <a:pt x="694944" y="1737952"/>
                </a:cubicBezTo>
                <a:cubicBezTo>
                  <a:pt x="594335" y="1707769"/>
                  <a:pt x="595350" y="1706443"/>
                  <a:pt x="530352" y="1673944"/>
                </a:cubicBezTo>
                <a:cubicBezTo>
                  <a:pt x="509016" y="1683088"/>
                  <a:pt x="486782" y="1690371"/>
                  <a:pt x="466344" y="1701376"/>
                </a:cubicBezTo>
                <a:cubicBezTo>
                  <a:pt x="334377" y="1772435"/>
                  <a:pt x="479268" y="1710837"/>
                  <a:pt x="365760" y="1756240"/>
                </a:cubicBezTo>
                <a:cubicBezTo>
                  <a:pt x="310896" y="1719664"/>
                  <a:pt x="248735" y="1692176"/>
                  <a:pt x="201168" y="1646512"/>
                </a:cubicBezTo>
                <a:cubicBezTo>
                  <a:pt x="159251" y="1606272"/>
                  <a:pt x="131357" y="1531041"/>
                  <a:pt x="118872" y="1472776"/>
                </a:cubicBezTo>
                <a:cubicBezTo>
                  <a:pt x="114356" y="1451702"/>
                  <a:pt x="112776" y="1430104"/>
                  <a:pt x="109728" y="1408768"/>
                </a:cubicBezTo>
                <a:cubicBezTo>
                  <a:pt x="118872" y="1363048"/>
                  <a:pt x="124588" y="1316507"/>
                  <a:pt x="137160" y="1271608"/>
                </a:cubicBezTo>
                <a:cubicBezTo>
                  <a:pt x="146011" y="1239996"/>
                  <a:pt x="167758" y="1212447"/>
                  <a:pt x="173736" y="1180168"/>
                </a:cubicBezTo>
                <a:cubicBezTo>
                  <a:pt x="183187" y="1129130"/>
                  <a:pt x="178447" y="1076436"/>
                  <a:pt x="182880" y="1024720"/>
                </a:cubicBezTo>
                <a:cubicBezTo>
                  <a:pt x="187594" y="969720"/>
                  <a:pt x="195072" y="914992"/>
                  <a:pt x="201168" y="860128"/>
                </a:cubicBezTo>
                <a:cubicBezTo>
                  <a:pt x="195072" y="738208"/>
                  <a:pt x="198021" y="615498"/>
                  <a:pt x="182880" y="494368"/>
                </a:cubicBezTo>
                <a:cubicBezTo>
                  <a:pt x="179499" y="467316"/>
                  <a:pt x="157585" y="446035"/>
                  <a:pt x="146304" y="421216"/>
                </a:cubicBezTo>
                <a:cubicBezTo>
                  <a:pt x="132427" y="390686"/>
                  <a:pt x="144839" y="388297"/>
                  <a:pt x="109728" y="366352"/>
                </a:cubicBezTo>
                <a:cubicBezTo>
                  <a:pt x="100640" y="360672"/>
                  <a:pt x="46307" y="345995"/>
                  <a:pt x="36576" y="329776"/>
                </a:cubicBezTo>
                <a:cubicBezTo>
                  <a:pt x="31871" y="321935"/>
                  <a:pt x="36576" y="311488"/>
                  <a:pt x="0" y="284056"/>
                </a:cubicBezTo>
                <a:close/>
              </a:path>
            </a:pathLst>
          </a:custGeom>
          <a:solidFill>
            <a:schemeClr val="tx2"/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4EE845D-5CB8-1437-3C20-D99359BE8D79}"/>
              </a:ext>
            </a:extLst>
          </p:cNvPr>
          <p:cNvSpPr/>
          <p:nvPr/>
        </p:nvSpPr>
        <p:spPr>
          <a:xfrm>
            <a:off x="4140644" y="1782772"/>
            <a:ext cx="3474720" cy="1829364"/>
          </a:xfrm>
          <a:custGeom>
            <a:avLst/>
            <a:gdLst>
              <a:gd name="connsiteX0" fmla="*/ 173736 w 3474720"/>
              <a:gd name="connsiteY0" fmla="*/ 1088700 h 1829364"/>
              <a:gd name="connsiteX1" fmla="*/ 82296 w 3474720"/>
              <a:gd name="connsiteY1" fmla="*/ 896676 h 1829364"/>
              <a:gd name="connsiteX2" fmla="*/ 27432 w 3474720"/>
              <a:gd name="connsiteY2" fmla="*/ 704652 h 1829364"/>
              <a:gd name="connsiteX3" fmla="*/ 64008 w 3474720"/>
              <a:gd name="connsiteY3" fmla="*/ 668076 h 1829364"/>
              <a:gd name="connsiteX4" fmla="*/ 9144 w 3474720"/>
              <a:gd name="connsiteY4" fmla="*/ 576636 h 1829364"/>
              <a:gd name="connsiteX5" fmla="*/ 0 w 3474720"/>
              <a:gd name="connsiteY5" fmla="*/ 530916 h 1829364"/>
              <a:gd name="connsiteX6" fmla="*/ 54864 w 3474720"/>
              <a:gd name="connsiteY6" fmla="*/ 476052 h 1829364"/>
              <a:gd name="connsiteX7" fmla="*/ 73152 w 3474720"/>
              <a:gd name="connsiteY7" fmla="*/ 430332 h 1829364"/>
              <a:gd name="connsiteX8" fmla="*/ 274320 w 3474720"/>
              <a:gd name="connsiteY8" fmla="*/ 311460 h 1829364"/>
              <a:gd name="connsiteX9" fmla="*/ 521208 w 3474720"/>
              <a:gd name="connsiteY9" fmla="*/ 156012 h 1829364"/>
              <a:gd name="connsiteX10" fmla="*/ 548640 w 3474720"/>
              <a:gd name="connsiteY10" fmla="*/ 119436 h 1829364"/>
              <a:gd name="connsiteX11" fmla="*/ 539496 w 3474720"/>
              <a:gd name="connsiteY11" fmla="*/ 73716 h 1829364"/>
              <a:gd name="connsiteX12" fmla="*/ 905256 w 3474720"/>
              <a:gd name="connsiteY12" fmla="*/ 18852 h 1829364"/>
              <a:gd name="connsiteX13" fmla="*/ 969264 w 3474720"/>
              <a:gd name="connsiteY13" fmla="*/ 73716 h 1829364"/>
              <a:gd name="connsiteX14" fmla="*/ 1078992 w 3474720"/>
              <a:gd name="connsiteY14" fmla="*/ 101148 h 1829364"/>
              <a:gd name="connsiteX15" fmla="*/ 1517904 w 3474720"/>
              <a:gd name="connsiteY15" fmla="*/ 82860 h 1829364"/>
              <a:gd name="connsiteX16" fmla="*/ 2002536 w 3474720"/>
              <a:gd name="connsiteY16" fmla="*/ 55428 h 1829364"/>
              <a:gd name="connsiteX17" fmla="*/ 2240280 w 3474720"/>
              <a:gd name="connsiteY17" fmla="*/ 165156 h 1829364"/>
              <a:gd name="connsiteX18" fmla="*/ 2441448 w 3474720"/>
              <a:gd name="connsiteY18" fmla="*/ 192588 h 1829364"/>
              <a:gd name="connsiteX19" fmla="*/ 2496312 w 3474720"/>
              <a:gd name="connsiteY19" fmla="*/ 229164 h 1829364"/>
              <a:gd name="connsiteX20" fmla="*/ 2560320 w 3474720"/>
              <a:gd name="connsiteY20" fmla="*/ 357180 h 1829364"/>
              <a:gd name="connsiteX21" fmla="*/ 2633472 w 3474720"/>
              <a:gd name="connsiteY21" fmla="*/ 384612 h 1829364"/>
              <a:gd name="connsiteX22" fmla="*/ 2798064 w 3474720"/>
              <a:gd name="connsiteY22" fmla="*/ 430332 h 1829364"/>
              <a:gd name="connsiteX23" fmla="*/ 2889504 w 3474720"/>
              <a:gd name="connsiteY23" fmla="*/ 439476 h 1829364"/>
              <a:gd name="connsiteX24" fmla="*/ 2990088 w 3474720"/>
              <a:gd name="connsiteY24" fmla="*/ 503484 h 1829364"/>
              <a:gd name="connsiteX25" fmla="*/ 3182112 w 3474720"/>
              <a:gd name="connsiteY25" fmla="*/ 521772 h 1829364"/>
              <a:gd name="connsiteX26" fmla="*/ 3236976 w 3474720"/>
              <a:gd name="connsiteY26" fmla="*/ 530916 h 1829364"/>
              <a:gd name="connsiteX27" fmla="*/ 3374136 w 3474720"/>
              <a:gd name="connsiteY27" fmla="*/ 594924 h 1829364"/>
              <a:gd name="connsiteX28" fmla="*/ 3410712 w 3474720"/>
              <a:gd name="connsiteY28" fmla="*/ 631500 h 1829364"/>
              <a:gd name="connsiteX29" fmla="*/ 3429000 w 3474720"/>
              <a:gd name="connsiteY29" fmla="*/ 805236 h 1829364"/>
              <a:gd name="connsiteX30" fmla="*/ 3419856 w 3474720"/>
              <a:gd name="connsiteY30" fmla="*/ 878388 h 1829364"/>
              <a:gd name="connsiteX31" fmla="*/ 3392424 w 3474720"/>
              <a:gd name="connsiteY31" fmla="*/ 1198428 h 1829364"/>
              <a:gd name="connsiteX32" fmla="*/ 3355848 w 3474720"/>
              <a:gd name="connsiteY32" fmla="*/ 1235004 h 1829364"/>
              <a:gd name="connsiteX33" fmla="*/ 3392424 w 3474720"/>
              <a:gd name="connsiteY33" fmla="*/ 1317300 h 1829364"/>
              <a:gd name="connsiteX34" fmla="*/ 3447288 w 3474720"/>
              <a:gd name="connsiteY34" fmla="*/ 1381308 h 1829364"/>
              <a:gd name="connsiteX35" fmla="*/ 3474720 w 3474720"/>
              <a:gd name="connsiteY35" fmla="*/ 1417884 h 1829364"/>
              <a:gd name="connsiteX36" fmla="*/ 3456432 w 3474720"/>
              <a:gd name="connsiteY36" fmla="*/ 1491036 h 1829364"/>
              <a:gd name="connsiteX37" fmla="*/ 3264408 w 3474720"/>
              <a:gd name="connsiteY37" fmla="*/ 1555044 h 1829364"/>
              <a:gd name="connsiteX38" fmla="*/ 2935224 w 3474720"/>
              <a:gd name="connsiteY38" fmla="*/ 1664772 h 1829364"/>
              <a:gd name="connsiteX39" fmla="*/ 2441448 w 3474720"/>
              <a:gd name="connsiteY39" fmla="*/ 1728780 h 1829364"/>
              <a:gd name="connsiteX40" fmla="*/ 2176272 w 3474720"/>
              <a:gd name="connsiteY40" fmla="*/ 1811076 h 1829364"/>
              <a:gd name="connsiteX41" fmla="*/ 2020824 w 3474720"/>
              <a:gd name="connsiteY41" fmla="*/ 1829364 h 1829364"/>
              <a:gd name="connsiteX42" fmla="*/ 1792224 w 3474720"/>
              <a:gd name="connsiteY42" fmla="*/ 1783644 h 1829364"/>
              <a:gd name="connsiteX43" fmla="*/ 1673352 w 3474720"/>
              <a:gd name="connsiteY43" fmla="*/ 1756212 h 1829364"/>
              <a:gd name="connsiteX44" fmla="*/ 1261872 w 3474720"/>
              <a:gd name="connsiteY44" fmla="*/ 1774500 h 1829364"/>
              <a:gd name="connsiteX45" fmla="*/ 676656 w 3474720"/>
              <a:gd name="connsiteY45" fmla="*/ 1719636 h 1829364"/>
              <a:gd name="connsiteX46" fmla="*/ 521208 w 3474720"/>
              <a:gd name="connsiteY46" fmla="*/ 1600764 h 1829364"/>
              <a:gd name="connsiteX47" fmla="*/ 438912 w 3474720"/>
              <a:gd name="connsiteY47" fmla="*/ 1518468 h 1829364"/>
              <a:gd name="connsiteX48" fmla="*/ 310896 w 3474720"/>
              <a:gd name="connsiteY48" fmla="*/ 1445316 h 1829364"/>
              <a:gd name="connsiteX49" fmla="*/ 210312 w 3474720"/>
              <a:gd name="connsiteY49" fmla="*/ 1207572 h 1829364"/>
              <a:gd name="connsiteX50" fmla="*/ 201168 w 3474720"/>
              <a:gd name="connsiteY50" fmla="*/ 1180140 h 1829364"/>
              <a:gd name="connsiteX51" fmla="*/ 173736 w 3474720"/>
              <a:gd name="connsiteY51" fmla="*/ 1088700 h 1829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474720" h="1829364">
                <a:moveTo>
                  <a:pt x="173736" y="1088700"/>
                </a:moveTo>
                <a:cubicBezTo>
                  <a:pt x="151884" y="957589"/>
                  <a:pt x="185469" y="1117760"/>
                  <a:pt x="82296" y="896676"/>
                </a:cubicBezTo>
                <a:cubicBezTo>
                  <a:pt x="42176" y="810704"/>
                  <a:pt x="40089" y="780594"/>
                  <a:pt x="27432" y="704652"/>
                </a:cubicBezTo>
                <a:cubicBezTo>
                  <a:pt x="39624" y="692460"/>
                  <a:pt x="66446" y="685145"/>
                  <a:pt x="64008" y="668076"/>
                </a:cubicBezTo>
                <a:cubicBezTo>
                  <a:pt x="58981" y="632888"/>
                  <a:pt x="24176" y="608847"/>
                  <a:pt x="9144" y="576636"/>
                </a:cubicBezTo>
                <a:cubicBezTo>
                  <a:pt x="2572" y="562552"/>
                  <a:pt x="3048" y="546156"/>
                  <a:pt x="0" y="530916"/>
                </a:cubicBezTo>
                <a:cubicBezTo>
                  <a:pt x="63398" y="404119"/>
                  <a:pt x="-32918" y="578465"/>
                  <a:pt x="54864" y="476052"/>
                </a:cubicBezTo>
                <a:cubicBezTo>
                  <a:pt x="65546" y="463590"/>
                  <a:pt x="60542" y="440840"/>
                  <a:pt x="73152" y="430332"/>
                </a:cubicBezTo>
                <a:cubicBezTo>
                  <a:pt x="226319" y="302693"/>
                  <a:pt x="171742" y="373628"/>
                  <a:pt x="274320" y="311460"/>
                </a:cubicBezTo>
                <a:cubicBezTo>
                  <a:pt x="357488" y="261055"/>
                  <a:pt x="462858" y="233812"/>
                  <a:pt x="521208" y="156012"/>
                </a:cubicBezTo>
                <a:lnTo>
                  <a:pt x="548640" y="119436"/>
                </a:lnTo>
                <a:cubicBezTo>
                  <a:pt x="545592" y="104196"/>
                  <a:pt x="525830" y="81118"/>
                  <a:pt x="539496" y="73716"/>
                </a:cubicBezTo>
                <a:cubicBezTo>
                  <a:pt x="722529" y="-25427"/>
                  <a:pt x="740388" y="-3130"/>
                  <a:pt x="905256" y="18852"/>
                </a:cubicBezTo>
                <a:cubicBezTo>
                  <a:pt x="926592" y="37140"/>
                  <a:pt x="945331" y="58988"/>
                  <a:pt x="969264" y="73716"/>
                </a:cubicBezTo>
                <a:cubicBezTo>
                  <a:pt x="996175" y="90277"/>
                  <a:pt x="1048914" y="96135"/>
                  <a:pt x="1078992" y="101148"/>
                </a:cubicBezTo>
                <a:lnTo>
                  <a:pt x="1517904" y="82860"/>
                </a:lnTo>
                <a:cubicBezTo>
                  <a:pt x="1679509" y="74860"/>
                  <a:pt x="1840886" y="48400"/>
                  <a:pt x="2002536" y="55428"/>
                </a:cubicBezTo>
                <a:cubicBezTo>
                  <a:pt x="2536595" y="78648"/>
                  <a:pt x="1862264" y="113608"/>
                  <a:pt x="2240280" y="165156"/>
                </a:cubicBezTo>
                <a:lnTo>
                  <a:pt x="2441448" y="192588"/>
                </a:lnTo>
                <a:cubicBezTo>
                  <a:pt x="2459736" y="204780"/>
                  <a:pt x="2480770" y="213622"/>
                  <a:pt x="2496312" y="229164"/>
                </a:cubicBezTo>
                <a:cubicBezTo>
                  <a:pt x="2519955" y="252807"/>
                  <a:pt x="2549012" y="339411"/>
                  <a:pt x="2560320" y="357180"/>
                </a:cubicBezTo>
                <a:cubicBezTo>
                  <a:pt x="2574735" y="379833"/>
                  <a:pt x="2613672" y="379332"/>
                  <a:pt x="2633472" y="384612"/>
                </a:cubicBezTo>
                <a:cubicBezTo>
                  <a:pt x="2677740" y="396417"/>
                  <a:pt x="2750314" y="422374"/>
                  <a:pt x="2798064" y="430332"/>
                </a:cubicBezTo>
                <a:cubicBezTo>
                  <a:pt x="2828279" y="435368"/>
                  <a:pt x="2859024" y="436428"/>
                  <a:pt x="2889504" y="439476"/>
                </a:cubicBezTo>
                <a:cubicBezTo>
                  <a:pt x="2915843" y="460547"/>
                  <a:pt x="2954799" y="496949"/>
                  <a:pt x="2990088" y="503484"/>
                </a:cubicBezTo>
                <a:cubicBezTo>
                  <a:pt x="3053311" y="515192"/>
                  <a:pt x="3118208" y="514672"/>
                  <a:pt x="3182112" y="521772"/>
                </a:cubicBezTo>
                <a:cubicBezTo>
                  <a:pt x="3200539" y="523819"/>
                  <a:pt x="3218688" y="527868"/>
                  <a:pt x="3236976" y="530916"/>
                </a:cubicBezTo>
                <a:cubicBezTo>
                  <a:pt x="3244066" y="534067"/>
                  <a:pt x="3356372" y="582489"/>
                  <a:pt x="3374136" y="594924"/>
                </a:cubicBezTo>
                <a:cubicBezTo>
                  <a:pt x="3388261" y="604812"/>
                  <a:pt x="3398520" y="619308"/>
                  <a:pt x="3410712" y="631500"/>
                </a:cubicBezTo>
                <a:cubicBezTo>
                  <a:pt x="3433386" y="699521"/>
                  <a:pt x="3429000" y="678548"/>
                  <a:pt x="3429000" y="805236"/>
                </a:cubicBezTo>
                <a:cubicBezTo>
                  <a:pt x="3429000" y="829810"/>
                  <a:pt x="3422132" y="853920"/>
                  <a:pt x="3419856" y="878388"/>
                </a:cubicBezTo>
                <a:cubicBezTo>
                  <a:pt x="3409939" y="984999"/>
                  <a:pt x="3411340" y="1093041"/>
                  <a:pt x="3392424" y="1198428"/>
                </a:cubicBezTo>
                <a:cubicBezTo>
                  <a:pt x="3389378" y="1215399"/>
                  <a:pt x="3368040" y="1222812"/>
                  <a:pt x="3355848" y="1235004"/>
                </a:cubicBezTo>
                <a:cubicBezTo>
                  <a:pt x="3368040" y="1262436"/>
                  <a:pt x="3376514" y="1291844"/>
                  <a:pt x="3392424" y="1317300"/>
                </a:cubicBezTo>
                <a:cubicBezTo>
                  <a:pt x="3407318" y="1341130"/>
                  <a:pt x="3429493" y="1359559"/>
                  <a:pt x="3447288" y="1381308"/>
                </a:cubicBezTo>
                <a:cubicBezTo>
                  <a:pt x="3456939" y="1393103"/>
                  <a:pt x="3465576" y="1405692"/>
                  <a:pt x="3474720" y="1417884"/>
                </a:cubicBezTo>
                <a:cubicBezTo>
                  <a:pt x="3468624" y="1442268"/>
                  <a:pt x="3477485" y="1477306"/>
                  <a:pt x="3456432" y="1491036"/>
                </a:cubicBezTo>
                <a:cubicBezTo>
                  <a:pt x="3399918" y="1527893"/>
                  <a:pt x="3327754" y="1531817"/>
                  <a:pt x="3264408" y="1555044"/>
                </a:cubicBezTo>
                <a:cubicBezTo>
                  <a:pt x="3085946" y="1620480"/>
                  <a:pt x="3064594" y="1647523"/>
                  <a:pt x="2935224" y="1664772"/>
                </a:cubicBezTo>
                <a:lnTo>
                  <a:pt x="2441448" y="1728780"/>
                </a:lnTo>
                <a:cubicBezTo>
                  <a:pt x="2344784" y="1765029"/>
                  <a:pt x="2294107" y="1786269"/>
                  <a:pt x="2176272" y="1811076"/>
                </a:cubicBezTo>
                <a:cubicBezTo>
                  <a:pt x="2125218" y="1821824"/>
                  <a:pt x="2072640" y="1823268"/>
                  <a:pt x="2020824" y="1829364"/>
                </a:cubicBezTo>
                <a:lnTo>
                  <a:pt x="1792224" y="1783644"/>
                </a:lnTo>
                <a:cubicBezTo>
                  <a:pt x="1752431" y="1775267"/>
                  <a:pt x="1714011" y="1756913"/>
                  <a:pt x="1673352" y="1756212"/>
                </a:cubicBezTo>
                <a:cubicBezTo>
                  <a:pt x="1536077" y="1753845"/>
                  <a:pt x="1399032" y="1768404"/>
                  <a:pt x="1261872" y="1774500"/>
                </a:cubicBezTo>
                <a:cubicBezTo>
                  <a:pt x="1066800" y="1756212"/>
                  <a:pt x="869423" y="1754685"/>
                  <a:pt x="676656" y="1719636"/>
                </a:cubicBezTo>
                <a:cubicBezTo>
                  <a:pt x="576535" y="1701432"/>
                  <a:pt x="572010" y="1655474"/>
                  <a:pt x="521208" y="1600764"/>
                </a:cubicBezTo>
                <a:cubicBezTo>
                  <a:pt x="494810" y="1572335"/>
                  <a:pt x="470110" y="1541527"/>
                  <a:pt x="438912" y="1518468"/>
                </a:cubicBezTo>
                <a:cubicBezTo>
                  <a:pt x="399389" y="1489255"/>
                  <a:pt x="353568" y="1469700"/>
                  <a:pt x="310896" y="1445316"/>
                </a:cubicBezTo>
                <a:cubicBezTo>
                  <a:pt x="228874" y="1308612"/>
                  <a:pt x="267886" y="1389889"/>
                  <a:pt x="210312" y="1207572"/>
                </a:cubicBezTo>
                <a:cubicBezTo>
                  <a:pt x="207410" y="1198381"/>
                  <a:pt x="203058" y="1189591"/>
                  <a:pt x="201168" y="1180140"/>
                </a:cubicBezTo>
                <a:lnTo>
                  <a:pt x="173736" y="10887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B5F2A1-D171-5881-7882-ABF94CB4FEED}"/>
              </a:ext>
            </a:extLst>
          </p:cNvPr>
          <p:cNvSpPr/>
          <p:nvPr/>
        </p:nvSpPr>
        <p:spPr>
          <a:xfrm>
            <a:off x="8066470" y="1718172"/>
            <a:ext cx="3130620" cy="1857864"/>
          </a:xfrm>
          <a:custGeom>
            <a:avLst/>
            <a:gdLst>
              <a:gd name="connsiteX0" fmla="*/ 73152 w 3130620"/>
              <a:gd name="connsiteY0" fmla="*/ 38208 h 1857864"/>
              <a:gd name="connsiteX1" fmla="*/ 18288 w 3130620"/>
              <a:gd name="connsiteY1" fmla="*/ 175368 h 1857864"/>
              <a:gd name="connsiteX2" fmla="*/ 36576 w 3130620"/>
              <a:gd name="connsiteY2" fmla="*/ 257664 h 1857864"/>
              <a:gd name="connsiteX3" fmla="*/ 91440 w 3130620"/>
              <a:gd name="connsiteY3" fmla="*/ 367392 h 1857864"/>
              <a:gd name="connsiteX4" fmla="*/ 109728 w 3130620"/>
              <a:gd name="connsiteY4" fmla="*/ 413112 h 1857864"/>
              <a:gd name="connsiteX5" fmla="*/ 100584 w 3130620"/>
              <a:gd name="connsiteY5" fmla="*/ 477120 h 1857864"/>
              <a:gd name="connsiteX6" fmla="*/ 27432 w 3130620"/>
              <a:gd name="connsiteY6" fmla="*/ 605136 h 1857864"/>
              <a:gd name="connsiteX7" fmla="*/ 0 w 3130620"/>
              <a:gd name="connsiteY7" fmla="*/ 669144 h 1857864"/>
              <a:gd name="connsiteX8" fmla="*/ 36576 w 3130620"/>
              <a:gd name="connsiteY8" fmla="*/ 1519536 h 1857864"/>
              <a:gd name="connsiteX9" fmla="*/ 54864 w 3130620"/>
              <a:gd name="connsiteY9" fmla="*/ 1610976 h 1857864"/>
              <a:gd name="connsiteX10" fmla="*/ 91440 w 3130620"/>
              <a:gd name="connsiteY10" fmla="*/ 1729848 h 1857864"/>
              <a:gd name="connsiteX11" fmla="*/ 146304 w 3130620"/>
              <a:gd name="connsiteY11" fmla="*/ 1748136 h 1857864"/>
              <a:gd name="connsiteX12" fmla="*/ 320040 w 3130620"/>
              <a:gd name="connsiteY12" fmla="*/ 1857864 h 1857864"/>
              <a:gd name="connsiteX13" fmla="*/ 402336 w 3130620"/>
              <a:gd name="connsiteY13" fmla="*/ 1830432 h 1857864"/>
              <a:gd name="connsiteX14" fmla="*/ 832104 w 3130620"/>
              <a:gd name="connsiteY14" fmla="*/ 1830432 h 1857864"/>
              <a:gd name="connsiteX15" fmla="*/ 1207008 w 3130620"/>
              <a:gd name="connsiteY15" fmla="*/ 1812144 h 1857864"/>
              <a:gd name="connsiteX16" fmla="*/ 1545336 w 3130620"/>
              <a:gd name="connsiteY16" fmla="*/ 1766424 h 1857864"/>
              <a:gd name="connsiteX17" fmla="*/ 1993392 w 3130620"/>
              <a:gd name="connsiteY17" fmla="*/ 1748136 h 1857864"/>
              <a:gd name="connsiteX18" fmla="*/ 2468880 w 3130620"/>
              <a:gd name="connsiteY18" fmla="*/ 1757280 h 1857864"/>
              <a:gd name="connsiteX19" fmla="*/ 2596896 w 3130620"/>
              <a:gd name="connsiteY19" fmla="*/ 1766424 h 1857864"/>
              <a:gd name="connsiteX20" fmla="*/ 2679192 w 3130620"/>
              <a:gd name="connsiteY20" fmla="*/ 1784712 h 1857864"/>
              <a:gd name="connsiteX21" fmla="*/ 2852928 w 3130620"/>
              <a:gd name="connsiteY21" fmla="*/ 1803000 h 1857864"/>
              <a:gd name="connsiteX22" fmla="*/ 3063240 w 3130620"/>
              <a:gd name="connsiteY22" fmla="*/ 1793856 h 1857864"/>
              <a:gd name="connsiteX23" fmla="*/ 3090672 w 3130620"/>
              <a:gd name="connsiteY23" fmla="*/ 1757280 h 1857864"/>
              <a:gd name="connsiteX24" fmla="*/ 3081528 w 3130620"/>
              <a:gd name="connsiteY24" fmla="*/ 1629264 h 1857864"/>
              <a:gd name="connsiteX25" fmla="*/ 3035808 w 3130620"/>
              <a:gd name="connsiteY25" fmla="*/ 1546968 h 1857864"/>
              <a:gd name="connsiteX26" fmla="*/ 3008376 w 3130620"/>
              <a:gd name="connsiteY26" fmla="*/ 1473816 h 1857864"/>
              <a:gd name="connsiteX27" fmla="*/ 3017520 w 3130620"/>
              <a:gd name="connsiteY27" fmla="*/ 1437240 h 1857864"/>
              <a:gd name="connsiteX28" fmla="*/ 3090672 w 3130620"/>
              <a:gd name="connsiteY28" fmla="*/ 1382376 h 1857864"/>
              <a:gd name="connsiteX29" fmla="*/ 3118104 w 3130620"/>
              <a:gd name="connsiteY29" fmla="*/ 1354944 h 1857864"/>
              <a:gd name="connsiteX30" fmla="*/ 3090672 w 3130620"/>
              <a:gd name="connsiteY30" fmla="*/ 1108056 h 1857864"/>
              <a:gd name="connsiteX31" fmla="*/ 3026664 w 3130620"/>
              <a:gd name="connsiteY31" fmla="*/ 1034904 h 1857864"/>
              <a:gd name="connsiteX32" fmla="*/ 2990088 w 3130620"/>
              <a:gd name="connsiteY32" fmla="*/ 916032 h 1857864"/>
              <a:gd name="connsiteX33" fmla="*/ 2935224 w 3130620"/>
              <a:gd name="connsiteY33" fmla="*/ 824592 h 1857864"/>
              <a:gd name="connsiteX34" fmla="*/ 2916936 w 3130620"/>
              <a:gd name="connsiteY34" fmla="*/ 568560 h 1857864"/>
              <a:gd name="connsiteX35" fmla="*/ 2852928 w 3130620"/>
              <a:gd name="connsiteY35" fmla="*/ 550272 h 1857864"/>
              <a:gd name="connsiteX36" fmla="*/ 2606040 w 3130620"/>
              <a:gd name="connsiteY36" fmla="*/ 531984 h 1857864"/>
              <a:gd name="connsiteX37" fmla="*/ 2496312 w 3130620"/>
              <a:gd name="connsiteY37" fmla="*/ 458832 h 1857864"/>
              <a:gd name="connsiteX38" fmla="*/ 2404872 w 3130620"/>
              <a:gd name="connsiteY38" fmla="*/ 403968 h 1857864"/>
              <a:gd name="connsiteX39" fmla="*/ 2203704 w 3130620"/>
              <a:gd name="connsiteY39" fmla="*/ 358248 h 1857864"/>
              <a:gd name="connsiteX40" fmla="*/ 1993392 w 3130620"/>
              <a:gd name="connsiteY40" fmla="*/ 312528 h 1857864"/>
              <a:gd name="connsiteX41" fmla="*/ 1920240 w 3130620"/>
              <a:gd name="connsiteY41" fmla="*/ 266808 h 1857864"/>
              <a:gd name="connsiteX42" fmla="*/ 1700784 w 3130620"/>
              <a:gd name="connsiteY42" fmla="*/ 129648 h 1857864"/>
              <a:gd name="connsiteX43" fmla="*/ 1673352 w 3130620"/>
              <a:gd name="connsiteY43" fmla="*/ 93072 h 1857864"/>
              <a:gd name="connsiteX44" fmla="*/ 1380744 w 3130620"/>
              <a:gd name="connsiteY44" fmla="*/ 10776 h 1857864"/>
              <a:gd name="connsiteX45" fmla="*/ 1197864 w 3130620"/>
              <a:gd name="connsiteY45" fmla="*/ 19920 h 1857864"/>
              <a:gd name="connsiteX46" fmla="*/ 1124712 w 3130620"/>
              <a:gd name="connsiteY46" fmla="*/ 56496 h 1857864"/>
              <a:gd name="connsiteX47" fmla="*/ 1033272 w 3130620"/>
              <a:gd name="connsiteY47" fmla="*/ 93072 h 1857864"/>
              <a:gd name="connsiteX48" fmla="*/ 749808 w 3130620"/>
              <a:gd name="connsiteY48" fmla="*/ 175368 h 1857864"/>
              <a:gd name="connsiteX49" fmla="*/ 292608 w 3130620"/>
              <a:gd name="connsiteY49" fmla="*/ 65640 h 1857864"/>
              <a:gd name="connsiteX50" fmla="*/ 182880 w 3130620"/>
              <a:gd name="connsiteY50" fmla="*/ 83928 h 1857864"/>
              <a:gd name="connsiteX51" fmla="*/ 73152 w 3130620"/>
              <a:gd name="connsiteY51" fmla="*/ 38208 h 185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130620" h="1857864">
                <a:moveTo>
                  <a:pt x="73152" y="38208"/>
                </a:moveTo>
                <a:cubicBezTo>
                  <a:pt x="45720" y="53448"/>
                  <a:pt x="21417" y="115922"/>
                  <a:pt x="18288" y="175368"/>
                </a:cubicBezTo>
                <a:cubicBezTo>
                  <a:pt x="16811" y="203430"/>
                  <a:pt x="26572" y="231404"/>
                  <a:pt x="36576" y="257664"/>
                </a:cubicBezTo>
                <a:cubicBezTo>
                  <a:pt x="51134" y="295878"/>
                  <a:pt x="74028" y="330391"/>
                  <a:pt x="91440" y="367392"/>
                </a:cubicBezTo>
                <a:cubicBezTo>
                  <a:pt x="98429" y="382244"/>
                  <a:pt x="103632" y="397872"/>
                  <a:pt x="109728" y="413112"/>
                </a:cubicBezTo>
                <a:cubicBezTo>
                  <a:pt x="106680" y="434448"/>
                  <a:pt x="109074" y="457310"/>
                  <a:pt x="100584" y="477120"/>
                </a:cubicBezTo>
                <a:cubicBezTo>
                  <a:pt x="81224" y="522294"/>
                  <a:pt x="50237" y="561600"/>
                  <a:pt x="27432" y="605136"/>
                </a:cubicBezTo>
                <a:cubicBezTo>
                  <a:pt x="16661" y="625699"/>
                  <a:pt x="9144" y="647808"/>
                  <a:pt x="0" y="669144"/>
                </a:cubicBezTo>
                <a:cubicBezTo>
                  <a:pt x="60305" y="1211890"/>
                  <a:pt x="288" y="600229"/>
                  <a:pt x="36576" y="1519536"/>
                </a:cubicBezTo>
                <a:cubicBezTo>
                  <a:pt x="37802" y="1550595"/>
                  <a:pt x="50253" y="1580236"/>
                  <a:pt x="54864" y="1610976"/>
                </a:cubicBezTo>
                <a:cubicBezTo>
                  <a:pt x="62527" y="1662062"/>
                  <a:pt x="43516" y="1703224"/>
                  <a:pt x="91440" y="1729848"/>
                </a:cubicBezTo>
                <a:cubicBezTo>
                  <a:pt x="108291" y="1739210"/>
                  <a:pt x="128016" y="1742040"/>
                  <a:pt x="146304" y="1748136"/>
                </a:cubicBezTo>
                <a:cubicBezTo>
                  <a:pt x="300551" y="1854181"/>
                  <a:pt x="236464" y="1830005"/>
                  <a:pt x="320040" y="1857864"/>
                </a:cubicBezTo>
                <a:cubicBezTo>
                  <a:pt x="347472" y="1848720"/>
                  <a:pt x="373607" y="1833715"/>
                  <a:pt x="402336" y="1830432"/>
                </a:cubicBezTo>
                <a:cubicBezTo>
                  <a:pt x="562783" y="1812095"/>
                  <a:pt x="675059" y="1822954"/>
                  <a:pt x="832104" y="1830432"/>
                </a:cubicBezTo>
                <a:cubicBezTo>
                  <a:pt x="957072" y="1824336"/>
                  <a:pt x="1082390" y="1823304"/>
                  <a:pt x="1207008" y="1812144"/>
                </a:cubicBezTo>
                <a:cubicBezTo>
                  <a:pt x="1474109" y="1788224"/>
                  <a:pt x="1366546" y="1775364"/>
                  <a:pt x="1545336" y="1766424"/>
                </a:cubicBezTo>
                <a:lnTo>
                  <a:pt x="1993392" y="1748136"/>
                </a:lnTo>
                <a:lnTo>
                  <a:pt x="2468880" y="1757280"/>
                </a:lnTo>
                <a:cubicBezTo>
                  <a:pt x="2511641" y="1758576"/>
                  <a:pt x="2554475" y="1760891"/>
                  <a:pt x="2596896" y="1766424"/>
                </a:cubicBezTo>
                <a:cubicBezTo>
                  <a:pt x="2624761" y="1770059"/>
                  <a:pt x="2651373" y="1780738"/>
                  <a:pt x="2679192" y="1784712"/>
                </a:cubicBezTo>
                <a:cubicBezTo>
                  <a:pt x="2736839" y="1792947"/>
                  <a:pt x="2795016" y="1796904"/>
                  <a:pt x="2852928" y="1803000"/>
                </a:cubicBezTo>
                <a:cubicBezTo>
                  <a:pt x="2923032" y="1799952"/>
                  <a:pt x="2994332" y="1807107"/>
                  <a:pt x="3063240" y="1793856"/>
                </a:cubicBezTo>
                <a:cubicBezTo>
                  <a:pt x="3078206" y="1790978"/>
                  <a:pt x="3088989" y="1772427"/>
                  <a:pt x="3090672" y="1757280"/>
                </a:cubicBezTo>
                <a:cubicBezTo>
                  <a:pt x="3095396" y="1714761"/>
                  <a:pt x="3092327" y="1670659"/>
                  <a:pt x="3081528" y="1629264"/>
                </a:cubicBezTo>
                <a:cubicBezTo>
                  <a:pt x="3073607" y="1598899"/>
                  <a:pt x="3049170" y="1575362"/>
                  <a:pt x="3035808" y="1546968"/>
                </a:cubicBezTo>
                <a:cubicBezTo>
                  <a:pt x="3024719" y="1523405"/>
                  <a:pt x="3017520" y="1498200"/>
                  <a:pt x="3008376" y="1473816"/>
                </a:cubicBezTo>
                <a:cubicBezTo>
                  <a:pt x="3011424" y="1461624"/>
                  <a:pt x="3009113" y="1446581"/>
                  <a:pt x="3017520" y="1437240"/>
                </a:cubicBezTo>
                <a:cubicBezTo>
                  <a:pt x="3037910" y="1414584"/>
                  <a:pt x="3067082" y="1401677"/>
                  <a:pt x="3090672" y="1382376"/>
                </a:cubicBezTo>
                <a:cubicBezTo>
                  <a:pt x="3100680" y="1374187"/>
                  <a:pt x="3108960" y="1364088"/>
                  <a:pt x="3118104" y="1354944"/>
                </a:cubicBezTo>
                <a:cubicBezTo>
                  <a:pt x="3134512" y="1256498"/>
                  <a:pt x="3142836" y="1245579"/>
                  <a:pt x="3090672" y="1108056"/>
                </a:cubicBezTo>
                <a:cubicBezTo>
                  <a:pt x="3079181" y="1077761"/>
                  <a:pt x="3048000" y="1059288"/>
                  <a:pt x="3026664" y="1034904"/>
                </a:cubicBezTo>
                <a:cubicBezTo>
                  <a:pt x="3014472" y="995280"/>
                  <a:pt x="3006618" y="954051"/>
                  <a:pt x="2990088" y="916032"/>
                </a:cubicBezTo>
                <a:cubicBezTo>
                  <a:pt x="2975915" y="883434"/>
                  <a:pt x="2946966" y="858142"/>
                  <a:pt x="2935224" y="824592"/>
                </a:cubicBezTo>
                <a:cubicBezTo>
                  <a:pt x="2890721" y="697440"/>
                  <a:pt x="2981400" y="729720"/>
                  <a:pt x="2916936" y="568560"/>
                </a:cubicBezTo>
                <a:cubicBezTo>
                  <a:pt x="2908695" y="547957"/>
                  <a:pt x="2874264" y="556368"/>
                  <a:pt x="2852928" y="550272"/>
                </a:cubicBezTo>
                <a:cubicBezTo>
                  <a:pt x="2750885" y="556650"/>
                  <a:pt x="2697618" y="575782"/>
                  <a:pt x="2606040" y="531984"/>
                </a:cubicBezTo>
                <a:cubicBezTo>
                  <a:pt x="2566383" y="513018"/>
                  <a:pt x="2532225" y="484182"/>
                  <a:pt x="2496312" y="458832"/>
                </a:cubicBezTo>
                <a:cubicBezTo>
                  <a:pt x="2449360" y="425689"/>
                  <a:pt x="2458970" y="417993"/>
                  <a:pt x="2404872" y="403968"/>
                </a:cubicBezTo>
                <a:cubicBezTo>
                  <a:pt x="2338307" y="386710"/>
                  <a:pt x="2270619" y="374096"/>
                  <a:pt x="2203704" y="358248"/>
                </a:cubicBezTo>
                <a:cubicBezTo>
                  <a:pt x="2013081" y="313100"/>
                  <a:pt x="2117201" y="330215"/>
                  <a:pt x="1993392" y="312528"/>
                </a:cubicBezTo>
                <a:cubicBezTo>
                  <a:pt x="1969008" y="297288"/>
                  <a:pt x="1943756" y="283356"/>
                  <a:pt x="1920240" y="266808"/>
                </a:cubicBezTo>
                <a:cubicBezTo>
                  <a:pt x="1721739" y="127122"/>
                  <a:pt x="1819690" y="153429"/>
                  <a:pt x="1700784" y="129648"/>
                </a:cubicBezTo>
                <a:cubicBezTo>
                  <a:pt x="1691640" y="117456"/>
                  <a:pt x="1681031" y="106236"/>
                  <a:pt x="1673352" y="93072"/>
                </a:cubicBezTo>
                <a:cubicBezTo>
                  <a:pt x="1585858" y="-56917"/>
                  <a:pt x="1703886" y="22317"/>
                  <a:pt x="1380744" y="10776"/>
                </a:cubicBezTo>
                <a:cubicBezTo>
                  <a:pt x="1319784" y="13824"/>
                  <a:pt x="1257950" y="9190"/>
                  <a:pt x="1197864" y="19920"/>
                </a:cubicBezTo>
                <a:cubicBezTo>
                  <a:pt x="1171026" y="24712"/>
                  <a:pt x="1149624" y="45424"/>
                  <a:pt x="1124712" y="56496"/>
                </a:cubicBezTo>
                <a:cubicBezTo>
                  <a:pt x="1094713" y="69829"/>
                  <a:pt x="1064294" y="82334"/>
                  <a:pt x="1033272" y="93072"/>
                </a:cubicBezTo>
                <a:cubicBezTo>
                  <a:pt x="922869" y="131288"/>
                  <a:pt x="861263" y="145647"/>
                  <a:pt x="749808" y="175368"/>
                </a:cubicBezTo>
                <a:cubicBezTo>
                  <a:pt x="570031" y="117583"/>
                  <a:pt x="476389" y="71045"/>
                  <a:pt x="292608" y="65640"/>
                </a:cubicBezTo>
                <a:cubicBezTo>
                  <a:pt x="255544" y="64550"/>
                  <a:pt x="219928" y="82384"/>
                  <a:pt x="182880" y="83928"/>
                </a:cubicBezTo>
                <a:cubicBezTo>
                  <a:pt x="146209" y="85456"/>
                  <a:pt x="100584" y="22968"/>
                  <a:pt x="73152" y="38208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8D321-07D3-41B5-8353-8089FD26903E}"/>
              </a:ext>
            </a:extLst>
          </p:cNvPr>
          <p:cNvSpPr txBox="1"/>
          <p:nvPr/>
        </p:nvSpPr>
        <p:spPr>
          <a:xfrm>
            <a:off x="803084" y="1975360"/>
            <a:ext cx="3044952" cy="338554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Potential business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FB37F-AE79-3FC7-6056-3EB3029FEC04}"/>
              </a:ext>
            </a:extLst>
          </p:cNvPr>
          <p:cNvSpPr txBox="1"/>
          <p:nvPr/>
        </p:nvSpPr>
        <p:spPr>
          <a:xfrm>
            <a:off x="803084" y="2359408"/>
            <a:ext cx="3044952" cy="954107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Rank locations for inspection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Help schedule technicians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Support earlier investigation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Reduce avoidable visits if validated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3A9A5-0235-8DB3-1F80-9AB9D0B49002}"/>
              </a:ext>
            </a:extLst>
          </p:cNvPr>
          <p:cNvSpPr txBox="1"/>
          <p:nvPr/>
        </p:nvSpPr>
        <p:spPr>
          <a:xfrm>
            <a:off x="4506404" y="1975360"/>
            <a:ext cx="3044952" cy="338554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Main limitation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2D6BF-00E5-2751-A854-297DBAD5E560}"/>
              </a:ext>
            </a:extLst>
          </p:cNvPr>
          <p:cNvSpPr txBox="1"/>
          <p:nvPr/>
        </p:nvSpPr>
        <p:spPr>
          <a:xfrm>
            <a:off x="4506404" y="2359408"/>
            <a:ext cx="3044952" cy="954107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3541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All 70 windows came from only two original recordings—one per class. Window-level splitting may produce overly optimistic scores.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C7F8B6-513E-9A4C-F9EA-6CFACE5688EA}"/>
              </a:ext>
            </a:extLst>
          </p:cNvPr>
          <p:cNvSpPr txBox="1"/>
          <p:nvPr/>
        </p:nvSpPr>
        <p:spPr>
          <a:xfrm>
            <a:off x="8209724" y="1975360"/>
            <a:ext cx="3044952" cy="338554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 Display"/>
              </a:defRPr>
            </a:pPr>
            <a:r>
              <a:rPr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D2186-E880-ED89-12CC-A1B15DDDB576}"/>
              </a:ext>
            </a:extLst>
          </p:cNvPr>
          <p:cNvSpPr txBox="1"/>
          <p:nvPr/>
        </p:nvSpPr>
        <p:spPr>
          <a:xfrm>
            <a:off x="8209724" y="2359408"/>
            <a:ext cx="3044952" cy="1092607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E3541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Collect independent recordings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Split data by recording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Test other sensors and conditions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Verify sampling frequency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Validate field performance and costs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FA5DBA-8220-853B-A258-CE6F8F50A45C}"/>
              </a:ext>
            </a:extLst>
          </p:cNvPr>
          <p:cNvSpPr txBox="1"/>
          <p:nvPr/>
        </p:nvSpPr>
        <p:spPr>
          <a:xfrm>
            <a:off x="1115171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"/>
              </a:defRPr>
            </a:pPr>
            <a:r>
              <a:t>Illustrative scenario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034AEA-1855-D516-8A4E-125A67DC58F3}"/>
              </a:ext>
            </a:extLst>
          </p:cNvPr>
          <p:cNvSpPr txBox="1"/>
          <p:nvPr/>
        </p:nvSpPr>
        <p:spPr>
          <a:xfrm>
            <a:off x="3086762" y="454238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E3541"/>
                </a:solidFill>
                <a:latin typeface="Aptos"/>
              </a:defRPr>
            </a:pPr>
            <a:r>
              <a:rPr dirty="0"/>
              <a:t>If monthly visits fell from 1,000 to 800 at ₹800 per visit, estimated spend would drop from ₹8,00,000 to ₹6,40,000—a hypothetical ₹1,60,000/month saving, not a measured outcome.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4C9E1-369A-A768-199A-F2072361CF4D}"/>
              </a:ext>
            </a:extLst>
          </p:cNvPr>
          <p:cNvSpPr txBox="1"/>
          <p:nvPr/>
        </p:nvSpPr>
        <p:spPr>
          <a:xfrm>
            <a:off x="883920" y="5733508"/>
            <a:ext cx="10424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A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I found promising separation in the selected recordings, but recording-level validation is essential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60098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7144-5B41-E172-2F97-BC45692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61815-AAC0-5793-D581-426E2481E368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Customer Feedback Analysis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0809F5-3406-5C2E-AD55-FABFE1A9D3E2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824A8-9CA4-7E00-E041-32BC96CD1EF6}"/>
              </a:ext>
            </a:extLst>
          </p:cNvPr>
          <p:cNvSpPr txBox="1"/>
          <p:nvPr/>
        </p:nvSpPr>
        <p:spPr>
          <a:xfrm>
            <a:off x="501332" y="1026079"/>
            <a:ext cx="66150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Feedback Analysis — Problem &amp; 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A3A7E-8785-BFAA-D8C7-6263ACA4422E}"/>
              </a:ext>
            </a:extLst>
          </p:cNvPr>
          <p:cNvSpPr txBox="1"/>
          <p:nvPr/>
        </p:nvSpPr>
        <p:spPr>
          <a:xfrm>
            <a:off x="530352" y="1426189"/>
            <a:ext cx="11078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contains valuable information about satisfaction and service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quality.Manual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large volumes of feedback is time-consuming.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B3C75-1983-C72D-219D-3F1F7D95A27B}"/>
              </a:ext>
            </a:extLst>
          </p:cNvPr>
          <p:cNvSpPr txBox="1"/>
          <p:nvPr/>
        </p:nvSpPr>
        <p:spPr>
          <a:xfrm>
            <a:off x="530352" y="2228671"/>
            <a:ext cx="610759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sentiment.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feedback into relevant categories.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complaint severity to support prioritization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2733941D-1DAD-74B0-DC11-FFBF5185D2C7}"/>
              </a:ext>
            </a:extLst>
          </p:cNvPr>
          <p:cNvSpPr txBox="1"/>
          <p:nvPr/>
        </p:nvSpPr>
        <p:spPr>
          <a:xfrm>
            <a:off x="645646" y="3490557"/>
            <a:ext cx="45227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12,800 reviews</a:t>
            </a:r>
            <a:endParaRPr lang="en-US" sz="1600" dirty="0">
              <a:solidFill>
                <a:schemeClr val="accent1"/>
              </a:solidFill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7FBAE7E-01C8-ADC1-AA48-4E9793BD9B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8908841"/>
              </p:ext>
            </p:extLst>
          </p:nvPr>
        </p:nvGraphicFramePr>
        <p:xfrm>
          <a:off x="645646" y="4034515"/>
          <a:ext cx="7047242" cy="2514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A9CFAA57-815D-4698-9AB3-90F655668F60}"/>
              </a:ext>
            </a:extLst>
          </p:cNvPr>
          <p:cNvGrpSpPr/>
          <p:nvPr/>
        </p:nvGrpSpPr>
        <p:grpSpPr>
          <a:xfrm>
            <a:off x="8461248" y="3074593"/>
            <a:ext cx="3200400" cy="3474720"/>
            <a:chOff x="6519672" y="3014958"/>
            <a:chExt cx="3200400" cy="3474720"/>
          </a:xfrm>
        </p:grpSpPr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C66952F5-B08A-A4ED-A1B5-19FC6D1A5B61}"/>
                </a:ext>
              </a:extLst>
            </p:cNvPr>
            <p:cNvSpPr/>
            <p:nvPr/>
          </p:nvSpPr>
          <p:spPr>
            <a:xfrm>
              <a:off x="6519672" y="3014958"/>
              <a:ext cx="3200400" cy="3474720"/>
            </a:xfrm>
            <a:prstGeom prst="roundRect">
              <a:avLst>
                <a:gd name="adj" fmla="val 2857"/>
              </a:avLst>
            </a:prstGeom>
            <a:solidFill>
              <a:srgbClr val="EAF4F6"/>
            </a:solidFill>
            <a:ln w="12700">
              <a:solidFill>
                <a:srgbClr val="EAF4F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ADC4129C-0A94-498D-D95E-8AA347D77DF3}"/>
                </a:ext>
              </a:extLst>
            </p:cNvPr>
            <p:cNvSpPr txBox="1"/>
            <p:nvPr/>
          </p:nvSpPr>
          <p:spPr>
            <a:xfrm>
              <a:off x="6702552" y="315211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0B3C5D"/>
                  </a:solidFill>
                </a:rPr>
                <a:t>Key facts</a:t>
              </a:r>
              <a:endParaRPr lang="en-US" sz="1800" dirty="0"/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BAD447B3-7F34-6D37-C205-3A811815680B}"/>
                </a:ext>
              </a:extLst>
            </p:cNvPr>
            <p:cNvSpPr txBox="1"/>
            <p:nvPr/>
          </p:nvSpPr>
          <p:spPr>
            <a:xfrm>
              <a:off x="6702552" y="3609318"/>
              <a:ext cx="283464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en-US" sz="1400" dirty="0">
                  <a:solidFill>
                    <a:srgbClr val="1B2A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64% positive, 23% negative, 14% neutral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en-US" sz="1400" dirty="0">
                  <a:solidFill>
                    <a:srgbClr val="1B2A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Stars map to labels: 1–2 negative, 3 neutral, 4–5 positive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en-US" sz="1400" dirty="0">
                  <a:solidFill>
                    <a:srgbClr val="1B2A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56% of reviews (7,206) contain no complaint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Ø"/>
              </a:pPr>
              <a:r>
                <a:rPr lang="en-US" sz="1400" dirty="0">
                  <a:solidFill>
                    <a:srgbClr val="1B2A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Imbalanced classes, so we use balanced class weights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998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91469-A400-175C-9CD4-4F412915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1C011-1233-783D-E171-3C1149D062D4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Customer Feedback Analysis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93B63-2C19-7915-C5D1-F6CCC522B35B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B22C8-5C69-F33C-7846-0C012F6361D6}"/>
              </a:ext>
            </a:extLst>
          </p:cNvPr>
          <p:cNvSpPr txBox="1"/>
          <p:nvPr/>
        </p:nvSpPr>
        <p:spPr>
          <a:xfrm>
            <a:off x="501333" y="1026079"/>
            <a:ext cx="52136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Development &amp; Experimental Results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1986136-E244-65F5-45BB-4155FA28A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3" y="1700448"/>
            <a:ext cx="7102899" cy="4253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C1259-9587-403A-3D23-8799D3CE848A}"/>
              </a:ext>
            </a:extLst>
          </p:cNvPr>
          <p:cNvSpPr txBox="1"/>
          <p:nvPr/>
        </p:nvSpPr>
        <p:spPr>
          <a:xfrm>
            <a:off x="501333" y="6025896"/>
            <a:ext cx="108598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by Category: Late arrivals/no-shows are the most common complaints, followed by pricing/billing and unresolved repairs.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58BD33-6719-792D-3088-6FA43DE84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644" y="1700447"/>
            <a:ext cx="4045226" cy="42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3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5B74-DF25-BB5E-63DD-A5E54742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A6B257-1D86-EC43-3B36-B3C0904F965E}"/>
              </a:ext>
            </a:extLst>
          </p:cNvPr>
          <p:cNvSpPr txBox="1"/>
          <p:nvPr/>
        </p:nvSpPr>
        <p:spPr>
          <a:xfrm>
            <a:off x="0" y="228600"/>
            <a:ext cx="121920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rPr lang="en-US" sz="2800" dirty="0">
                <a:solidFill>
                  <a:schemeClr val="tx2"/>
                </a:solidFill>
                <a:latin typeface="Corbel" panose="020B0503020204020204" pitchFamily="34" charset="0"/>
              </a:rPr>
              <a:t>Integration, Limitations &amp; Conclusion</a:t>
            </a:r>
            <a:endParaRPr sz="2800" dirty="0">
              <a:solidFill>
                <a:schemeClr val="tx2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B22B1A-ECB7-65B0-8438-D8DBBADDB73A}"/>
              </a:ext>
            </a:extLst>
          </p:cNvPr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3A740-2456-D389-C6C0-30FC1C205676}"/>
              </a:ext>
            </a:extLst>
          </p:cNvPr>
          <p:cNvSpPr txBox="1"/>
          <p:nvPr/>
        </p:nvSpPr>
        <p:spPr>
          <a:xfrm>
            <a:off x="440900" y="967252"/>
            <a:ext cx="1145623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Five Modules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Detection: Identifies potential pipeline leaks.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Forecasting: Predicts service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Analysis: Classifies customer complaints.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Optimization: Supports budget allocation.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 Scheduling: Optimizes schedules and reduces estimated travel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leak recordings and unverified generalization.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uncertainty and complaint severity require improvement.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needs real-world validation.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data comes from telecommunications field service, not plumbing.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ML and optimization to support data-driven plumbing operations.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representative plumbing data and test models on unseen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reliability and validate operational benefits before deployment.</a:t>
            </a:r>
          </a:p>
          <a:p>
            <a:pPr algn="ctr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74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1B9D-359D-65B8-5E2D-34692C85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4233C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6528816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606C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204" y="1014984"/>
            <a:ext cx="10789920" cy="5336846"/>
          </a:xfrm>
          <a:prstGeom prst="rect">
            <a:avLst/>
          </a:prstGeom>
          <a:noFill/>
        </p:spPr>
        <p:txBody>
          <a:bodyPr wrap="square" lIns="109728" tIns="27432" rIns="73152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SRV30 —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Plumbing ML Optimization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https://github.com/SRV30/plumbing-ml-optimization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Data &amp; Implementations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Water-Leak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Accelerometer dataset and Random Forest notebook — 25920036/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Synthetic plumbing-demand dataset and forecasting implementation — 26535001/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 classification and complaint-analysis implementation — 26535016/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Resource Optimization: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allocation dashboard and optimization implementation — combine/pages/04_26535023_Resource_Optimization.py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 Scheduling: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and duration-prediction implementation — 26535024/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Dataset &amp; Research Paper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Gamst, M.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Pisinger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—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for the Technician Routing and Scheduling Problem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https://zenodo.org/records/7904015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DOI: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https://doi.org/10.1002/net.22188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demand dataset is synthetic. The technician-routing dataset describes telecommunications field service, not plumbing.</a:t>
            </a:r>
          </a:p>
        </p:txBody>
      </p:sp>
    </p:spTree>
    <p:extLst>
      <p:ext uri="{BB962C8B-B14F-4D97-AF65-F5344CB8AC3E}">
        <p14:creationId xmlns:p14="http://schemas.microsoft.com/office/powerpoint/2010/main" val="187358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C1C4-3C4E-C50E-4405-1A9016FE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E14B-9238-16E6-D1FA-7FA6FA138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8" y="2849251"/>
            <a:ext cx="7951304" cy="1159497"/>
          </a:xfrm>
          <a:solidFill>
            <a:schemeClr val="tx2"/>
          </a:solidFill>
        </p:spPr>
        <p:txBody>
          <a:bodyPr/>
          <a:lstStyle/>
          <a:p>
            <a:pPr algn="ctr"/>
            <a:r>
              <a:rPr lang="en-IN" i="1" cap="none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Project Demo</a:t>
            </a:r>
          </a:p>
        </p:txBody>
      </p:sp>
    </p:spTree>
    <p:extLst>
      <p:ext uri="{BB962C8B-B14F-4D97-AF65-F5344CB8AC3E}">
        <p14:creationId xmlns:p14="http://schemas.microsoft.com/office/powerpoint/2010/main" val="102084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520</TotalTime>
  <Words>1899</Words>
  <Application>Microsoft Office PowerPoint</Application>
  <PresentationFormat>Widescreen</PresentationFormat>
  <Paragraphs>301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Aparajita</vt:lpstr>
      <vt:lpstr>Arial</vt:lpstr>
      <vt:lpstr>Arial Black</vt:lpstr>
      <vt:lpstr>Arial Narrow</vt:lpstr>
      <vt:lpstr>Bahnschrift</vt:lpstr>
      <vt:lpstr>Calibri</vt:lpstr>
      <vt:lpstr>Cambria</vt:lpstr>
      <vt:lpstr>Century Gothic</vt:lpstr>
      <vt:lpstr>Corbel</vt:lpstr>
      <vt:lpstr>Times New Roman</vt:lpstr>
      <vt:lpstr>Wingdings</vt:lpstr>
      <vt:lpstr>Wingdings 3</vt:lpstr>
      <vt:lpstr>Slice</vt:lpstr>
      <vt:lpstr>Using ML improve Business of chains of plumbing services like Mr. rooter Plumbing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Raj Verma</dc:creator>
  <cp:lastModifiedBy>Sahil Raj Verma</cp:lastModifiedBy>
  <cp:revision>123</cp:revision>
  <dcterms:created xsi:type="dcterms:W3CDTF">2026-10-22T07:43:57Z</dcterms:created>
  <dcterms:modified xsi:type="dcterms:W3CDTF">2026-10-27T03:32:23Z</dcterms:modified>
</cp:coreProperties>
</file>