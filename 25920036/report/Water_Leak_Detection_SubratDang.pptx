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50876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MACHINE</a:t>
            </a:r>
            <a:br>
              <a:rPr dirty="0"/>
            </a:br>
            <a:r>
              <a:rPr dirty="0"/>
              <a:t>LEARNING-BASED</a:t>
            </a:r>
            <a:br>
              <a:rPr dirty="0"/>
            </a:br>
            <a:r>
              <a:rPr dirty="0"/>
              <a:t>WATER LEAK</a:t>
            </a:r>
            <a:br>
              <a:rPr dirty="0"/>
            </a:br>
            <a:r>
              <a:rPr dirty="0"/>
              <a:t>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32588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A44"/>
                </a:solidFill>
                <a:latin typeface="Aptos Display"/>
              </a:defRPr>
            </a:pPr>
            <a:r>
              <a:rPr dirty="0"/>
              <a:t>Accelerometer-based classification for smarter plumbing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606040"/>
            <a:ext cx="6995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E3541"/>
                </a:solidFill>
                <a:latin typeface="Aptos"/>
              </a:defRPr>
            </a:pPr>
            <a:r>
              <a:rPr dirty="0"/>
              <a:t>I developed an exploratory machine-learning workflow to distinguish No Leak and Orifice Leak signal windows and examine how predictions could help prioritize inspections.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352544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70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4736592"/>
            <a:ext cx="1673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35 No Leak + 35 Orifice Leak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4352544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7 model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4736592"/>
            <a:ext cx="1673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Signal amplitude and shape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4352544"/>
            <a:ext cx="1947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4736592"/>
            <a:ext cx="1947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Baseline classifier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813477-13B1-D395-9A2A-BC978B9FA6F1}"/>
              </a:ext>
            </a:extLst>
          </p:cNvPr>
          <p:cNvSpPr txBox="1"/>
          <p:nvPr/>
        </p:nvSpPr>
        <p:spPr>
          <a:xfrm>
            <a:off x="290984" y="3657600"/>
            <a:ext cx="2727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Name: </a:t>
            </a:r>
            <a:r>
              <a:rPr lang="en-GB" b="1" dirty="0" err="1">
                <a:solidFill>
                  <a:schemeClr val="bg1"/>
                </a:solidFill>
              </a:rPr>
              <a:t>Subrat</a:t>
            </a:r>
            <a:r>
              <a:rPr lang="en-GB" b="1" dirty="0">
                <a:solidFill>
                  <a:schemeClr val="bg1"/>
                </a:solidFill>
              </a:rPr>
              <a:t> Kumar Dang</a:t>
            </a:r>
          </a:p>
          <a:p>
            <a:r>
              <a:rPr lang="en-GB" b="1" dirty="0">
                <a:solidFill>
                  <a:schemeClr val="bg1"/>
                </a:solidFill>
              </a:rPr>
              <a:t>Regd. No.: 25920036 (</a:t>
            </a:r>
            <a:r>
              <a:rPr lang="en-GB" b="1" dirty="0" err="1">
                <a:solidFill>
                  <a:schemeClr val="bg1"/>
                </a:solidFill>
              </a:rPr>
              <a:t>Phd</a:t>
            </a:r>
            <a:r>
              <a:rPr lang="en-GB" b="1" dirty="0">
                <a:solidFill>
                  <a:schemeClr val="bg1"/>
                </a:solidFill>
              </a:rPr>
              <a:t>)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C5E9BF-0E9A-59A9-CF09-BB9635642E2D}"/>
              </a:ext>
            </a:extLst>
          </p:cNvPr>
          <p:cNvSpPr/>
          <p:nvPr/>
        </p:nvSpPr>
        <p:spPr>
          <a:xfrm>
            <a:off x="923544" y="3797778"/>
            <a:ext cx="1728216" cy="9037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88DD21-6EF0-99A2-9907-930B718090A7}"/>
              </a:ext>
            </a:extLst>
          </p:cNvPr>
          <p:cNvSpPr/>
          <p:nvPr/>
        </p:nvSpPr>
        <p:spPr>
          <a:xfrm>
            <a:off x="3745993" y="3805683"/>
            <a:ext cx="1728216" cy="9037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5E6EBB8-74AB-44AB-7CF7-F9B670F00A3F}"/>
              </a:ext>
            </a:extLst>
          </p:cNvPr>
          <p:cNvSpPr/>
          <p:nvPr/>
        </p:nvSpPr>
        <p:spPr>
          <a:xfrm>
            <a:off x="6608060" y="3797778"/>
            <a:ext cx="1728216" cy="9037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6BDD8A-41DE-E40D-F205-E103F4303C2B}"/>
              </a:ext>
            </a:extLst>
          </p:cNvPr>
          <p:cNvSpPr/>
          <p:nvPr/>
        </p:nvSpPr>
        <p:spPr>
          <a:xfrm>
            <a:off x="9442700" y="3769548"/>
            <a:ext cx="1728216" cy="9037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ECA16AD-A77F-306F-C898-D068F55ABBFE}"/>
              </a:ext>
            </a:extLst>
          </p:cNvPr>
          <p:cNvSpPr/>
          <p:nvPr/>
        </p:nvSpPr>
        <p:spPr>
          <a:xfrm>
            <a:off x="7922361" y="1227516"/>
            <a:ext cx="3319272" cy="2322576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D8E17DE-21E7-F14F-BBDA-364D2C1D8705}"/>
              </a:ext>
            </a:extLst>
          </p:cNvPr>
          <p:cNvSpPr/>
          <p:nvPr/>
        </p:nvSpPr>
        <p:spPr>
          <a:xfrm>
            <a:off x="4334256" y="1261872"/>
            <a:ext cx="3319272" cy="2322576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6F3340F-FEAF-6102-3EF7-CA85E18F5969}"/>
              </a:ext>
            </a:extLst>
          </p:cNvPr>
          <p:cNvSpPr/>
          <p:nvPr/>
        </p:nvSpPr>
        <p:spPr>
          <a:xfrm>
            <a:off x="666140" y="1197864"/>
            <a:ext cx="3319272" cy="2322576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2A44"/>
                </a:solidFill>
                <a:latin typeface="Aptos Display"/>
              </a:defRPr>
            </a:pPr>
            <a:r>
              <a:t>1. Dataset and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7E"/>
                </a:solidFill>
                <a:latin typeface="Aptos"/>
              </a:defRPr>
            </a:pPr>
            <a:r>
              <a:t>I converted long labelled sensor recordings into windows and extracted descriptive signal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1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655063"/>
            <a:ext cx="3044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Source recordings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39112"/>
            <a:ext cx="304495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LO_NL_0.18 LPS_A1 — No Leak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LO_OL_0.18 LPS_A1 — Orifice Leak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655063"/>
            <a:ext cx="26096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>
                <a:solidFill>
                  <a:schemeClr val="bg1"/>
                </a:solidFill>
              </a:rPr>
              <a:t>Windowing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039112"/>
            <a:ext cx="304495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I used non-overlapping windows of 25,600 samples and discarded incomplete tails.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5964" y="1682157"/>
            <a:ext cx="3044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>
                <a:solidFill>
                  <a:schemeClr val="bg1"/>
                </a:solidFill>
              </a:rPr>
              <a:t>Final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9913" y="2057400"/>
            <a:ext cx="3044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70 windows total: 35 No Leak and 35 Orifice Leak.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886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Raw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233672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3541"/>
                </a:solidFill>
                <a:latin typeface="Aptos"/>
              </a:defRPr>
            </a:pPr>
            <a:r>
              <a:t>1,826,571 samples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886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Windowing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4233672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3541"/>
                </a:solidFill>
                <a:latin typeface="Aptos"/>
              </a:defRPr>
            </a:pPr>
            <a:r>
              <a:t>25,600 samples/window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886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Feature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33672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3541"/>
                </a:solidFill>
                <a:latin typeface="Aptos"/>
              </a:defRPr>
            </a:pPr>
            <a:r>
              <a:t>9 descriptive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5" y="3886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Model inputs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4233672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3541"/>
                </a:solidFill>
                <a:latin typeface="Aptos"/>
              </a:defRPr>
            </a:pPr>
            <a:r>
              <a:t>7 selected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03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E3541"/>
                </a:solidFill>
                <a:latin typeface="Aptos"/>
              </a:defRPr>
            </a:pPr>
            <a:r>
              <a:rPr dirty="0"/>
              <a:t>Extracted: mean, standard deviation, RMS, centered RMS, peak-to-peak, absolute peak, crest factor, skewness and excess kurtosis.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2A44"/>
                </a:solidFill>
                <a:latin typeface="Aptos Display"/>
              </a:defRPr>
            </a:pPr>
            <a:r>
              <a:t>2. Model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7E"/>
                </a:solidFill>
                <a:latin typeface="Aptos"/>
              </a:defRPr>
            </a:pPr>
            <a:r>
              <a:t>I trained a Random Forest baseline using seven selected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1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563624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Input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1947672"/>
            <a:ext cx="29535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Standard deviation, RMS, peak-to-peak, absolute peak, crest factor, skewness and excess kurtosis.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1563624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Evaluation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1947672"/>
            <a:ext cx="29535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Stratified 70/15/15 train-validation-test split; 5-fold CV on training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1563624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1947672"/>
            <a:ext cx="29535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E3541"/>
                </a:solidFill>
                <a:latin typeface="Aptos"/>
              </a:defRPr>
            </a:pPr>
            <a:r>
              <a:t>Random Forest with 300 trees and balanced class weights.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B9184"/>
                </a:solidFill>
                <a:latin typeface="Aptos Display"/>
              </a:defRPr>
            </a:pPr>
            <a:r>
              <a:t>1.00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58444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B9184"/>
                </a:solidFill>
                <a:latin typeface="Aptos Display"/>
              </a:defRPr>
            </a:pPr>
            <a:r>
              <a:t>1.00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0690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58444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B9184"/>
                </a:solidFill>
                <a:latin typeface="Aptos Display"/>
              </a:defRPr>
            </a:pPr>
            <a:r>
              <a:t>1.00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40690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58444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B9184"/>
                </a:solidFill>
                <a:latin typeface="Aptos Display"/>
              </a:defRPr>
            </a:pPr>
            <a:r>
              <a:t>1.00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0690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92040"/>
            <a:ext cx="10424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3541"/>
                </a:solidFill>
                <a:latin typeface="Aptos"/>
              </a:defRPr>
            </a:pPr>
            <a:r>
              <a:rPr dirty="0"/>
              <a:t>Test set: 11 windows (6 No Leak, 5 Orifice Leak); all 11 were classified correctly.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6E4BEE-1930-AB1F-8C09-5B1ED85493B3}"/>
              </a:ext>
            </a:extLst>
          </p:cNvPr>
          <p:cNvSpPr/>
          <p:nvPr/>
        </p:nvSpPr>
        <p:spPr>
          <a:xfrm>
            <a:off x="1069848" y="3273552"/>
            <a:ext cx="10287000" cy="148132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2A44"/>
                </a:solidFill>
                <a:latin typeface="Aptos Display"/>
              </a:defRPr>
            </a:pPr>
            <a:r>
              <a:t>3.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7E"/>
                </a:solidFill>
                <a:latin typeface="Aptos"/>
              </a:defRPr>
            </a:pPr>
            <a:r>
              <a:t>Amplitude-related features dominated feature importance in this fitted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17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Standard deviation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435608"/>
            <a:ext cx="6035040" cy="210312"/>
          </a:xfrm>
          <a:prstGeom prst="round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63240" y="1435608"/>
            <a:ext cx="5505163" cy="210312"/>
          </a:xfrm>
          <a:prstGeom prst="roundRect">
            <a:avLst/>
          </a:prstGeom>
          <a:solidFill>
            <a:srgbClr val="1B9184"/>
          </a:solidFill>
          <a:ln>
            <a:solidFill>
              <a:srgbClr val="1B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0" y="140817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A44"/>
                </a:solidFill>
                <a:latin typeface="Aptos"/>
              </a:defRPr>
            </a:pPr>
            <a:r>
              <a:t>27.366%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568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975104"/>
            <a:ext cx="6035040" cy="210312"/>
          </a:xfrm>
          <a:prstGeom prst="round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63240" y="1975104"/>
            <a:ext cx="5267785" cy="210312"/>
          </a:xfrm>
          <a:prstGeom prst="roundRect">
            <a:avLst/>
          </a:prstGeom>
          <a:solidFill>
            <a:srgbClr val="1B9184"/>
          </a:solidFill>
          <a:ln>
            <a:solidFill>
              <a:srgbClr val="1B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194767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A44"/>
                </a:solidFill>
                <a:latin typeface="Aptos"/>
              </a:defRPr>
            </a:pPr>
            <a:r>
              <a:t>26.186%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963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Peak-to-peak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514600"/>
            <a:ext cx="6035040" cy="210312"/>
          </a:xfrm>
          <a:prstGeom prst="round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063240" y="2514600"/>
            <a:ext cx="5179673" cy="210312"/>
          </a:xfrm>
          <a:prstGeom prst="roundRect">
            <a:avLst/>
          </a:prstGeom>
          <a:solidFill>
            <a:srgbClr val="1B9184"/>
          </a:solidFill>
          <a:ln>
            <a:solidFill>
              <a:srgbClr val="1B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248716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A44"/>
                </a:solidFill>
                <a:latin typeface="Aptos"/>
              </a:defRPr>
            </a:pPr>
            <a:r>
              <a:t>25.748%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358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Absolute peak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054096"/>
            <a:ext cx="6035040" cy="210312"/>
          </a:xfrm>
          <a:prstGeom prst="round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063240" y="3054096"/>
            <a:ext cx="3645566" cy="210312"/>
          </a:xfrm>
          <a:prstGeom prst="roundRect">
            <a:avLst/>
          </a:prstGeom>
          <a:solidFill>
            <a:srgbClr val="1B9184"/>
          </a:solidFill>
          <a:ln>
            <a:solidFill>
              <a:srgbClr val="1B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302666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A44"/>
                </a:solidFill>
                <a:latin typeface="Aptos"/>
              </a:defRPr>
            </a:pPr>
            <a:r>
              <a:t>18.122%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75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Crest factor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3593592"/>
            <a:ext cx="6035040" cy="210312"/>
          </a:xfrm>
          <a:prstGeom prst="round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063240" y="3593592"/>
            <a:ext cx="214042" cy="210312"/>
          </a:xfrm>
          <a:prstGeom prst="roundRect">
            <a:avLst/>
          </a:prstGeom>
          <a:solidFill>
            <a:srgbClr val="6852B4"/>
          </a:solidFill>
          <a:ln>
            <a:solidFill>
              <a:srgbClr val="68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35661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A44"/>
                </a:solidFill>
                <a:latin typeface="Aptos"/>
              </a:defRPr>
            </a:pPr>
            <a:r>
              <a:t>1.064%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148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Excess kurtosis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133087"/>
            <a:ext cx="6035040" cy="210312"/>
          </a:xfrm>
          <a:prstGeom prst="round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063240" y="4133087"/>
            <a:ext cx="195937" cy="210312"/>
          </a:xfrm>
          <a:prstGeom prst="roundRect">
            <a:avLst/>
          </a:prstGeom>
          <a:solidFill>
            <a:srgbClr val="6852B4"/>
          </a:solidFill>
          <a:ln>
            <a:solidFill>
              <a:srgbClr val="68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0" y="410565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A44"/>
                </a:solidFill>
                <a:latin typeface="Aptos"/>
              </a:defRPr>
            </a:pPr>
            <a:r>
              <a:t>0.974%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54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Skewness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63240" y="4672583"/>
            <a:ext cx="6035040" cy="210312"/>
          </a:xfrm>
          <a:prstGeom prst="roundRect">
            <a:avLst/>
          </a:prstGeom>
          <a:solidFill>
            <a:srgbClr val="E6E8E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063240" y="4672583"/>
            <a:ext cx="108630" cy="210312"/>
          </a:xfrm>
          <a:prstGeom prst="roundRect">
            <a:avLst/>
          </a:prstGeom>
          <a:solidFill>
            <a:srgbClr val="6852B4"/>
          </a:solidFill>
          <a:ln>
            <a:solidFill>
              <a:srgbClr val="68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0" y="4645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A44"/>
                </a:solidFill>
                <a:latin typeface="Aptos"/>
              </a:defRPr>
            </a:pPr>
            <a:r>
              <a:t>0.540%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48640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2416" y="5632704"/>
            <a:ext cx="10131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Interpretation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" y="6016752"/>
            <a:ext cx="10131552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The first four features contribute approximately 97.4% of total feature importance.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183A5A-A765-0F28-018A-C2774CCF3CD6}"/>
              </a:ext>
            </a:extLst>
          </p:cNvPr>
          <p:cNvSpPr/>
          <p:nvPr/>
        </p:nvSpPr>
        <p:spPr>
          <a:xfrm>
            <a:off x="603504" y="1242992"/>
            <a:ext cx="3419856" cy="1939351"/>
          </a:xfrm>
          <a:custGeom>
            <a:avLst/>
            <a:gdLst>
              <a:gd name="connsiteX0" fmla="*/ 0 w 3419856"/>
              <a:gd name="connsiteY0" fmla="*/ 284056 h 1939351"/>
              <a:gd name="connsiteX1" fmla="*/ 182880 w 3419856"/>
              <a:gd name="connsiteY1" fmla="*/ 137752 h 1939351"/>
              <a:gd name="connsiteX2" fmla="*/ 292608 w 3419856"/>
              <a:gd name="connsiteY2" fmla="*/ 101176 h 1939351"/>
              <a:gd name="connsiteX3" fmla="*/ 338328 w 3419856"/>
              <a:gd name="connsiteY3" fmla="*/ 110320 h 1939351"/>
              <a:gd name="connsiteX4" fmla="*/ 576072 w 3419856"/>
              <a:gd name="connsiteY4" fmla="*/ 73744 h 1939351"/>
              <a:gd name="connsiteX5" fmla="*/ 658368 w 3419856"/>
              <a:gd name="connsiteY5" fmla="*/ 156040 h 1939351"/>
              <a:gd name="connsiteX6" fmla="*/ 685800 w 3419856"/>
              <a:gd name="connsiteY6" fmla="*/ 165184 h 1939351"/>
              <a:gd name="connsiteX7" fmla="*/ 722376 w 3419856"/>
              <a:gd name="connsiteY7" fmla="*/ 128608 h 1939351"/>
              <a:gd name="connsiteX8" fmla="*/ 850392 w 3419856"/>
              <a:gd name="connsiteY8" fmla="*/ 165184 h 1939351"/>
              <a:gd name="connsiteX9" fmla="*/ 941832 w 3419856"/>
              <a:gd name="connsiteY9" fmla="*/ 137752 h 1939351"/>
              <a:gd name="connsiteX10" fmla="*/ 987552 w 3419856"/>
              <a:gd name="connsiteY10" fmla="*/ 128608 h 1939351"/>
              <a:gd name="connsiteX11" fmla="*/ 1033272 w 3419856"/>
              <a:gd name="connsiteY11" fmla="*/ 137752 h 1939351"/>
              <a:gd name="connsiteX12" fmla="*/ 1197864 w 3419856"/>
              <a:gd name="connsiteY12" fmla="*/ 92032 h 1939351"/>
              <a:gd name="connsiteX13" fmla="*/ 1316736 w 3419856"/>
              <a:gd name="connsiteY13" fmla="*/ 101176 h 1939351"/>
              <a:gd name="connsiteX14" fmla="*/ 2267712 w 3419856"/>
              <a:gd name="connsiteY14" fmla="*/ 28024 h 1939351"/>
              <a:gd name="connsiteX15" fmla="*/ 2377440 w 3419856"/>
              <a:gd name="connsiteY15" fmla="*/ 592 h 1939351"/>
              <a:gd name="connsiteX16" fmla="*/ 2459736 w 3419856"/>
              <a:gd name="connsiteY16" fmla="*/ 37168 h 1939351"/>
              <a:gd name="connsiteX17" fmla="*/ 2578608 w 3419856"/>
              <a:gd name="connsiteY17" fmla="*/ 165184 h 1939351"/>
              <a:gd name="connsiteX18" fmla="*/ 2633472 w 3419856"/>
              <a:gd name="connsiteY18" fmla="*/ 338920 h 1939351"/>
              <a:gd name="connsiteX19" fmla="*/ 2706624 w 3419856"/>
              <a:gd name="connsiteY19" fmla="*/ 421216 h 1939351"/>
              <a:gd name="connsiteX20" fmla="*/ 2724912 w 3419856"/>
              <a:gd name="connsiteY20" fmla="*/ 457792 h 1939351"/>
              <a:gd name="connsiteX21" fmla="*/ 2843784 w 3419856"/>
              <a:gd name="connsiteY21" fmla="*/ 540088 h 1939351"/>
              <a:gd name="connsiteX22" fmla="*/ 2871216 w 3419856"/>
              <a:gd name="connsiteY22" fmla="*/ 622384 h 1939351"/>
              <a:gd name="connsiteX23" fmla="*/ 2880360 w 3419856"/>
              <a:gd name="connsiteY23" fmla="*/ 722968 h 1939351"/>
              <a:gd name="connsiteX24" fmla="*/ 2953512 w 3419856"/>
              <a:gd name="connsiteY24" fmla="*/ 777832 h 1939351"/>
              <a:gd name="connsiteX25" fmla="*/ 3008376 w 3419856"/>
              <a:gd name="connsiteY25" fmla="*/ 805264 h 1939351"/>
              <a:gd name="connsiteX26" fmla="*/ 3063240 w 3419856"/>
              <a:gd name="connsiteY26" fmla="*/ 841840 h 1939351"/>
              <a:gd name="connsiteX27" fmla="*/ 3154680 w 3419856"/>
              <a:gd name="connsiteY27" fmla="*/ 1033864 h 1939351"/>
              <a:gd name="connsiteX28" fmla="*/ 3191256 w 3419856"/>
              <a:gd name="connsiteY28" fmla="*/ 1125304 h 1939351"/>
              <a:gd name="connsiteX29" fmla="*/ 3218688 w 3419856"/>
              <a:gd name="connsiteY29" fmla="*/ 1171024 h 1939351"/>
              <a:gd name="connsiteX30" fmla="*/ 3291840 w 3419856"/>
              <a:gd name="connsiteY30" fmla="*/ 1317328 h 1939351"/>
              <a:gd name="connsiteX31" fmla="*/ 3419856 w 3419856"/>
              <a:gd name="connsiteY31" fmla="*/ 1472776 h 1939351"/>
              <a:gd name="connsiteX32" fmla="*/ 3410712 w 3419856"/>
              <a:gd name="connsiteY32" fmla="*/ 1518496 h 1939351"/>
              <a:gd name="connsiteX33" fmla="*/ 3374136 w 3419856"/>
              <a:gd name="connsiteY33" fmla="*/ 1527640 h 1939351"/>
              <a:gd name="connsiteX34" fmla="*/ 3264408 w 3419856"/>
              <a:gd name="connsiteY34" fmla="*/ 1582504 h 1939351"/>
              <a:gd name="connsiteX35" fmla="*/ 3218688 w 3419856"/>
              <a:gd name="connsiteY35" fmla="*/ 1600792 h 1939351"/>
              <a:gd name="connsiteX36" fmla="*/ 3154680 w 3419856"/>
              <a:gd name="connsiteY36" fmla="*/ 1655656 h 1939351"/>
              <a:gd name="connsiteX37" fmla="*/ 3099816 w 3419856"/>
              <a:gd name="connsiteY37" fmla="*/ 1747096 h 1939351"/>
              <a:gd name="connsiteX38" fmla="*/ 2980944 w 3419856"/>
              <a:gd name="connsiteY38" fmla="*/ 1774528 h 1939351"/>
              <a:gd name="connsiteX39" fmla="*/ 2596896 w 3419856"/>
              <a:gd name="connsiteY39" fmla="*/ 1811104 h 1939351"/>
              <a:gd name="connsiteX40" fmla="*/ 2066544 w 3419856"/>
              <a:gd name="connsiteY40" fmla="*/ 1939120 h 1939351"/>
              <a:gd name="connsiteX41" fmla="*/ 1783080 w 3419856"/>
              <a:gd name="connsiteY41" fmla="*/ 1884256 h 1939351"/>
              <a:gd name="connsiteX42" fmla="*/ 1408176 w 3419856"/>
              <a:gd name="connsiteY42" fmla="*/ 1865968 h 1939351"/>
              <a:gd name="connsiteX43" fmla="*/ 1371600 w 3419856"/>
              <a:gd name="connsiteY43" fmla="*/ 1856824 h 1939351"/>
              <a:gd name="connsiteX44" fmla="*/ 1234440 w 3419856"/>
              <a:gd name="connsiteY44" fmla="*/ 1801960 h 1939351"/>
              <a:gd name="connsiteX45" fmla="*/ 841248 w 3419856"/>
              <a:gd name="connsiteY45" fmla="*/ 1774528 h 1939351"/>
              <a:gd name="connsiteX46" fmla="*/ 694944 w 3419856"/>
              <a:gd name="connsiteY46" fmla="*/ 1737952 h 1939351"/>
              <a:gd name="connsiteX47" fmla="*/ 530352 w 3419856"/>
              <a:gd name="connsiteY47" fmla="*/ 1673944 h 1939351"/>
              <a:gd name="connsiteX48" fmla="*/ 466344 w 3419856"/>
              <a:gd name="connsiteY48" fmla="*/ 1701376 h 1939351"/>
              <a:gd name="connsiteX49" fmla="*/ 365760 w 3419856"/>
              <a:gd name="connsiteY49" fmla="*/ 1756240 h 1939351"/>
              <a:gd name="connsiteX50" fmla="*/ 201168 w 3419856"/>
              <a:gd name="connsiteY50" fmla="*/ 1646512 h 1939351"/>
              <a:gd name="connsiteX51" fmla="*/ 118872 w 3419856"/>
              <a:gd name="connsiteY51" fmla="*/ 1472776 h 1939351"/>
              <a:gd name="connsiteX52" fmla="*/ 109728 w 3419856"/>
              <a:gd name="connsiteY52" fmla="*/ 1408768 h 1939351"/>
              <a:gd name="connsiteX53" fmla="*/ 137160 w 3419856"/>
              <a:gd name="connsiteY53" fmla="*/ 1271608 h 1939351"/>
              <a:gd name="connsiteX54" fmla="*/ 173736 w 3419856"/>
              <a:gd name="connsiteY54" fmla="*/ 1180168 h 1939351"/>
              <a:gd name="connsiteX55" fmla="*/ 182880 w 3419856"/>
              <a:gd name="connsiteY55" fmla="*/ 1024720 h 1939351"/>
              <a:gd name="connsiteX56" fmla="*/ 201168 w 3419856"/>
              <a:gd name="connsiteY56" fmla="*/ 860128 h 1939351"/>
              <a:gd name="connsiteX57" fmla="*/ 182880 w 3419856"/>
              <a:gd name="connsiteY57" fmla="*/ 494368 h 1939351"/>
              <a:gd name="connsiteX58" fmla="*/ 146304 w 3419856"/>
              <a:gd name="connsiteY58" fmla="*/ 421216 h 1939351"/>
              <a:gd name="connsiteX59" fmla="*/ 109728 w 3419856"/>
              <a:gd name="connsiteY59" fmla="*/ 366352 h 1939351"/>
              <a:gd name="connsiteX60" fmla="*/ 36576 w 3419856"/>
              <a:gd name="connsiteY60" fmla="*/ 329776 h 1939351"/>
              <a:gd name="connsiteX61" fmla="*/ 0 w 3419856"/>
              <a:gd name="connsiteY61" fmla="*/ 284056 h 193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419856" h="1939351">
                <a:moveTo>
                  <a:pt x="0" y="284056"/>
                </a:moveTo>
                <a:cubicBezTo>
                  <a:pt x="60960" y="235288"/>
                  <a:pt x="108819" y="162439"/>
                  <a:pt x="182880" y="137752"/>
                </a:cubicBezTo>
                <a:lnTo>
                  <a:pt x="292608" y="101176"/>
                </a:lnTo>
                <a:cubicBezTo>
                  <a:pt x="307848" y="104224"/>
                  <a:pt x="322836" y="111559"/>
                  <a:pt x="338328" y="110320"/>
                </a:cubicBezTo>
                <a:cubicBezTo>
                  <a:pt x="377023" y="107224"/>
                  <a:pt x="509286" y="84875"/>
                  <a:pt x="576072" y="73744"/>
                </a:cubicBezTo>
                <a:cubicBezTo>
                  <a:pt x="603504" y="101176"/>
                  <a:pt x="628565" y="131204"/>
                  <a:pt x="658368" y="156040"/>
                </a:cubicBezTo>
                <a:cubicBezTo>
                  <a:pt x="665773" y="162210"/>
                  <a:pt x="676941" y="168981"/>
                  <a:pt x="685800" y="165184"/>
                </a:cubicBezTo>
                <a:cubicBezTo>
                  <a:pt x="701648" y="158392"/>
                  <a:pt x="710184" y="140800"/>
                  <a:pt x="722376" y="128608"/>
                </a:cubicBezTo>
                <a:cubicBezTo>
                  <a:pt x="746886" y="137799"/>
                  <a:pt x="816829" y="169379"/>
                  <a:pt x="850392" y="165184"/>
                </a:cubicBezTo>
                <a:cubicBezTo>
                  <a:pt x="881968" y="161237"/>
                  <a:pt x="911084" y="145951"/>
                  <a:pt x="941832" y="137752"/>
                </a:cubicBezTo>
                <a:cubicBezTo>
                  <a:pt x="956849" y="133747"/>
                  <a:pt x="972312" y="131656"/>
                  <a:pt x="987552" y="128608"/>
                </a:cubicBezTo>
                <a:cubicBezTo>
                  <a:pt x="1002792" y="131656"/>
                  <a:pt x="1017902" y="140057"/>
                  <a:pt x="1033272" y="137752"/>
                </a:cubicBezTo>
                <a:cubicBezTo>
                  <a:pt x="1086535" y="129763"/>
                  <a:pt x="1144529" y="109810"/>
                  <a:pt x="1197864" y="92032"/>
                </a:cubicBezTo>
                <a:cubicBezTo>
                  <a:pt x="1237488" y="95080"/>
                  <a:pt x="1277011" y="102295"/>
                  <a:pt x="1316736" y="101176"/>
                </a:cubicBezTo>
                <a:cubicBezTo>
                  <a:pt x="1791599" y="87800"/>
                  <a:pt x="1827526" y="75870"/>
                  <a:pt x="2267712" y="28024"/>
                </a:cubicBezTo>
                <a:cubicBezTo>
                  <a:pt x="2304288" y="18880"/>
                  <a:pt x="2339997" y="4997"/>
                  <a:pt x="2377440" y="592"/>
                </a:cubicBezTo>
                <a:cubicBezTo>
                  <a:pt x="2414382" y="-3754"/>
                  <a:pt x="2433988" y="16570"/>
                  <a:pt x="2459736" y="37168"/>
                </a:cubicBezTo>
                <a:cubicBezTo>
                  <a:pt x="2535700" y="97939"/>
                  <a:pt x="2508156" y="74603"/>
                  <a:pt x="2578608" y="165184"/>
                </a:cubicBezTo>
                <a:cubicBezTo>
                  <a:pt x="2600224" y="251648"/>
                  <a:pt x="2598236" y="268448"/>
                  <a:pt x="2633472" y="338920"/>
                </a:cubicBezTo>
                <a:cubicBezTo>
                  <a:pt x="2653222" y="378419"/>
                  <a:pt x="2674312" y="380826"/>
                  <a:pt x="2706624" y="421216"/>
                </a:cubicBezTo>
                <a:cubicBezTo>
                  <a:pt x="2715139" y="431860"/>
                  <a:pt x="2715856" y="447604"/>
                  <a:pt x="2724912" y="457792"/>
                </a:cubicBezTo>
                <a:cubicBezTo>
                  <a:pt x="2759801" y="497042"/>
                  <a:pt x="2799214" y="514619"/>
                  <a:pt x="2843784" y="540088"/>
                </a:cubicBezTo>
                <a:cubicBezTo>
                  <a:pt x="2852928" y="567520"/>
                  <a:pt x="2865545" y="594030"/>
                  <a:pt x="2871216" y="622384"/>
                </a:cubicBezTo>
                <a:cubicBezTo>
                  <a:pt x="2877818" y="655396"/>
                  <a:pt x="2864608" y="693214"/>
                  <a:pt x="2880360" y="722968"/>
                </a:cubicBezTo>
                <a:cubicBezTo>
                  <a:pt x="2894621" y="749906"/>
                  <a:pt x="2927873" y="761350"/>
                  <a:pt x="2953512" y="777832"/>
                </a:cubicBezTo>
                <a:cubicBezTo>
                  <a:pt x="2970711" y="788889"/>
                  <a:pt x="2990715" y="794962"/>
                  <a:pt x="3008376" y="805264"/>
                </a:cubicBezTo>
                <a:cubicBezTo>
                  <a:pt x="3027361" y="816339"/>
                  <a:pt x="3044952" y="829648"/>
                  <a:pt x="3063240" y="841840"/>
                </a:cubicBezTo>
                <a:cubicBezTo>
                  <a:pt x="3111952" y="923027"/>
                  <a:pt x="3101839" y="901762"/>
                  <a:pt x="3154680" y="1033864"/>
                </a:cubicBezTo>
                <a:cubicBezTo>
                  <a:pt x="3166872" y="1064344"/>
                  <a:pt x="3174366" y="1097154"/>
                  <a:pt x="3191256" y="1125304"/>
                </a:cubicBezTo>
                <a:cubicBezTo>
                  <a:pt x="3200400" y="1140544"/>
                  <a:pt x="3210740" y="1155128"/>
                  <a:pt x="3218688" y="1171024"/>
                </a:cubicBezTo>
                <a:cubicBezTo>
                  <a:pt x="3258750" y="1251149"/>
                  <a:pt x="3211455" y="1204789"/>
                  <a:pt x="3291840" y="1317328"/>
                </a:cubicBezTo>
                <a:cubicBezTo>
                  <a:pt x="3330856" y="1371950"/>
                  <a:pt x="3419856" y="1472776"/>
                  <a:pt x="3419856" y="1472776"/>
                </a:cubicBezTo>
                <a:cubicBezTo>
                  <a:pt x="3416808" y="1488016"/>
                  <a:pt x="3420662" y="1506556"/>
                  <a:pt x="3410712" y="1518496"/>
                </a:cubicBezTo>
                <a:cubicBezTo>
                  <a:pt x="3402667" y="1528150"/>
                  <a:pt x="3385650" y="1522603"/>
                  <a:pt x="3374136" y="1527640"/>
                </a:cubicBezTo>
                <a:cubicBezTo>
                  <a:pt x="3336671" y="1544031"/>
                  <a:pt x="3301409" y="1565092"/>
                  <a:pt x="3264408" y="1582504"/>
                </a:cubicBezTo>
                <a:cubicBezTo>
                  <a:pt x="3249556" y="1589493"/>
                  <a:pt x="3233928" y="1594696"/>
                  <a:pt x="3218688" y="1600792"/>
                </a:cubicBezTo>
                <a:cubicBezTo>
                  <a:pt x="3197352" y="1619080"/>
                  <a:pt x="3172475" y="1633907"/>
                  <a:pt x="3154680" y="1655656"/>
                </a:cubicBezTo>
                <a:cubicBezTo>
                  <a:pt x="3126572" y="1690010"/>
                  <a:pt x="3149703" y="1723620"/>
                  <a:pt x="3099816" y="1747096"/>
                </a:cubicBezTo>
                <a:cubicBezTo>
                  <a:pt x="3063021" y="1764411"/>
                  <a:pt x="3020820" y="1766553"/>
                  <a:pt x="2980944" y="1774528"/>
                </a:cubicBezTo>
                <a:cubicBezTo>
                  <a:pt x="2830851" y="1804547"/>
                  <a:pt x="2784565" y="1798593"/>
                  <a:pt x="2596896" y="1811104"/>
                </a:cubicBezTo>
                <a:cubicBezTo>
                  <a:pt x="2580717" y="1815667"/>
                  <a:pt x="2173889" y="1945561"/>
                  <a:pt x="2066544" y="1939120"/>
                </a:cubicBezTo>
                <a:cubicBezTo>
                  <a:pt x="1970475" y="1933356"/>
                  <a:pt x="1878733" y="1894884"/>
                  <a:pt x="1783080" y="1884256"/>
                </a:cubicBezTo>
                <a:cubicBezTo>
                  <a:pt x="1658729" y="1870439"/>
                  <a:pt x="1533144" y="1872064"/>
                  <a:pt x="1408176" y="1865968"/>
                </a:cubicBezTo>
                <a:cubicBezTo>
                  <a:pt x="1395984" y="1862920"/>
                  <a:pt x="1383392" y="1861169"/>
                  <a:pt x="1371600" y="1856824"/>
                </a:cubicBezTo>
                <a:cubicBezTo>
                  <a:pt x="1325394" y="1839801"/>
                  <a:pt x="1283100" y="1809511"/>
                  <a:pt x="1234440" y="1801960"/>
                </a:cubicBezTo>
                <a:cubicBezTo>
                  <a:pt x="1104611" y="1781814"/>
                  <a:pt x="972312" y="1783672"/>
                  <a:pt x="841248" y="1774528"/>
                </a:cubicBezTo>
                <a:cubicBezTo>
                  <a:pt x="792480" y="1762336"/>
                  <a:pt x="743093" y="1752397"/>
                  <a:pt x="694944" y="1737952"/>
                </a:cubicBezTo>
                <a:cubicBezTo>
                  <a:pt x="594335" y="1707769"/>
                  <a:pt x="595350" y="1706443"/>
                  <a:pt x="530352" y="1673944"/>
                </a:cubicBezTo>
                <a:cubicBezTo>
                  <a:pt x="509016" y="1683088"/>
                  <a:pt x="486782" y="1690371"/>
                  <a:pt x="466344" y="1701376"/>
                </a:cubicBezTo>
                <a:cubicBezTo>
                  <a:pt x="334377" y="1772435"/>
                  <a:pt x="479268" y="1710837"/>
                  <a:pt x="365760" y="1756240"/>
                </a:cubicBezTo>
                <a:cubicBezTo>
                  <a:pt x="310896" y="1719664"/>
                  <a:pt x="248735" y="1692176"/>
                  <a:pt x="201168" y="1646512"/>
                </a:cubicBezTo>
                <a:cubicBezTo>
                  <a:pt x="159251" y="1606272"/>
                  <a:pt x="131357" y="1531041"/>
                  <a:pt x="118872" y="1472776"/>
                </a:cubicBezTo>
                <a:cubicBezTo>
                  <a:pt x="114356" y="1451702"/>
                  <a:pt x="112776" y="1430104"/>
                  <a:pt x="109728" y="1408768"/>
                </a:cubicBezTo>
                <a:cubicBezTo>
                  <a:pt x="118872" y="1363048"/>
                  <a:pt x="124588" y="1316507"/>
                  <a:pt x="137160" y="1271608"/>
                </a:cubicBezTo>
                <a:cubicBezTo>
                  <a:pt x="146011" y="1239996"/>
                  <a:pt x="167758" y="1212447"/>
                  <a:pt x="173736" y="1180168"/>
                </a:cubicBezTo>
                <a:cubicBezTo>
                  <a:pt x="183187" y="1129130"/>
                  <a:pt x="178447" y="1076436"/>
                  <a:pt x="182880" y="1024720"/>
                </a:cubicBezTo>
                <a:cubicBezTo>
                  <a:pt x="187594" y="969720"/>
                  <a:pt x="195072" y="914992"/>
                  <a:pt x="201168" y="860128"/>
                </a:cubicBezTo>
                <a:cubicBezTo>
                  <a:pt x="195072" y="738208"/>
                  <a:pt x="198021" y="615498"/>
                  <a:pt x="182880" y="494368"/>
                </a:cubicBezTo>
                <a:cubicBezTo>
                  <a:pt x="179499" y="467316"/>
                  <a:pt x="157585" y="446035"/>
                  <a:pt x="146304" y="421216"/>
                </a:cubicBezTo>
                <a:cubicBezTo>
                  <a:pt x="132427" y="390686"/>
                  <a:pt x="144839" y="388297"/>
                  <a:pt x="109728" y="366352"/>
                </a:cubicBezTo>
                <a:cubicBezTo>
                  <a:pt x="100640" y="360672"/>
                  <a:pt x="46307" y="345995"/>
                  <a:pt x="36576" y="329776"/>
                </a:cubicBezTo>
                <a:cubicBezTo>
                  <a:pt x="31871" y="321935"/>
                  <a:pt x="36576" y="311488"/>
                  <a:pt x="0" y="284056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9C4D929-3C5E-DEAB-71E4-85DA6E92E0E9}"/>
              </a:ext>
            </a:extLst>
          </p:cNvPr>
          <p:cNvSpPr/>
          <p:nvPr/>
        </p:nvSpPr>
        <p:spPr>
          <a:xfrm>
            <a:off x="4242816" y="1325316"/>
            <a:ext cx="3474720" cy="1829364"/>
          </a:xfrm>
          <a:custGeom>
            <a:avLst/>
            <a:gdLst>
              <a:gd name="connsiteX0" fmla="*/ 173736 w 3474720"/>
              <a:gd name="connsiteY0" fmla="*/ 1088700 h 1829364"/>
              <a:gd name="connsiteX1" fmla="*/ 82296 w 3474720"/>
              <a:gd name="connsiteY1" fmla="*/ 896676 h 1829364"/>
              <a:gd name="connsiteX2" fmla="*/ 27432 w 3474720"/>
              <a:gd name="connsiteY2" fmla="*/ 704652 h 1829364"/>
              <a:gd name="connsiteX3" fmla="*/ 64008 w 3474720"/>
              <a:gd name="connsiteY3" fmla="*/ 668076 h 1829364"/>
              <a:gd name="connsiteX4" fmla="*/ 9144 w 3474720"/>
              <a:gd name="connsiteY4" fmla="*/ 576636 h 1829364"/>
              <a:gd name="connsiteX5" fmla="*/ 0 w 3474720"/>
              <a:gd name="connsiteY5" fmla="*/ 530916 h 1829364"/>
              <a:gd name="connsiteX6" fmla="*/ 54864 w 3474720"/>
              <a:gd name="connsiteY6" fmla="*/ 476052 h 1829364"/>
              <a:gd name="connsiteX7" fmla="*/ 73152 w 3474720"/>
              <a:gd name="connsiteY7" fmla="*/ 430332 h 1829364"/>
              <a:gd name="connsiteX8" fmla="*/ 274320 w 3474720"/>
              <a:gd name="connsiteY8" fmla="*/ 311460 h 1829364"/>
              <a:gd name="connsiteX9" fmla="*/ 521208 w 3474720"/>
              <a:gd name="connsiteY9" fmla="*/ 156012 h 1829364"/>
              <a:gd name="connsiteX10" fmla="*/ 548640 w 3474720"/>
              <a:gd name="connsiteY10" fmla="*/ 119436 h 1829364"/>
              <a:gd name="connsiteX11" fmla="*/ 539496 w 3474720"/>
              <a:gd name="connsiteY11" fmla="*/ 73716 h 1829364"/>
              <a:gd name="connsiteX12" fmla="*/ 905256 w 3474720"/>
              <a:gd name="connsiteY12" fmla="*/ 18852 h 1829364"/>
              <a:gd name="connsiteX13" fmla="*/ 969264 w 3474720"/>
              <a:gd name="connsiteY13" fmla="*/ 73716 h 1829364"/>
              <a:gd name="connsiteX14" fmla="*/ 1078992 w 3474720"/>
              <a:gd name="connsiteY14" fmla="*/ 101148 h 1829364"/>
              <a:gd name="connsiteX15" fmla="*/ 1517904 w 3474720"/>
              <a:gd name="connsiteY15" fmla="*/ 82860 h 1829364"/>
              <a:gd name="connsiteX16" fmla="*/ 2002536 w 3474720"/>
              <a:gd name="connsiteY16" fmla="*/ 55428 h 1829364"/>
              <a:gd name="connsiteX17" fmla="*/ 2240280 w 3474720"/>
              <a:gd name="connsiteY17" fmla="*/ 165156 h 1829364"/>
              <a:gd name="connsiteX18" fmla="*/ 2441448 w 3474720"/>
              <a:gd name="connsiteY18" fmla="*/ 192588 h 1829364"/>
              <a:gd name="connsiteX19" fmla="*/ 2496312 w 3474720"/>
              <a:gd name="connsiteY19" fmla="*/ 229164 h 1829364"/>
              <a:gd name="connsiteX20" fmla="*/ 2560320 w 3474720"/>
              <a:gd name="connsiteY20" fmla="*/ 357180 h 1829364"/>
              <a:gd name="connsiteX21" fmla="*/ 2633472 w 3474720"/>
              <a:gd name="connsiteY21" fmla="*/ 384612 h 1829364"/>
              <a:gd name="connsiteX22" fmla="*/ 2798064 w 3474720"/>
              <a:gd name="connsiteY22" fmla="*/ 430332 h 1829364"/>
              <a:gd name="connsiteX23" fmla="*/ 2889504 w 3474720"/>
              <a:gd name="connsiteY23" fmla="*/ 439476 h 1829364"/>
              <a:gd name="connsiteX24" fmla="*/ 2990088 w 3474720"/>
              <a:gd name="connsiteY24" fmla="*/ 503484 h 1829364"/>
              <a:gd name="connsiteX25" fmla="*/ 3182112 w 3474720"/>
              <a:gd name="connsiteY25" fmla="*/ 521772 h 1829364"/>
              <a:gd name="connsiteX26" fmla="*/ 3236976 w 3474720"/>
              <a:gd name="connsiteY26" fmla="*/ 530916 h 1829364"/>
              <a:gd name="connsiteX27" fmla="*/ 3374136 w 3474720"/>
              <a:gd name="connsiteY27" fmla="*/ 594924 h 1829364"/>
              <a:gd name="connsiteX28" fmla="*/ 3410712 w 3474720"/>
              <a:gd name="connsiteY28" fmla="*/ 631500 h 1829364"/>
              <a:gd name="connsiteX29" fmla="*/ 3429000 w 3474720"/>
              <a:gd name="connsiteY29" fmla="*/ 805236 h 1829364"/>
              <a:gd name="connsiteX30" fmla="*/ 3419856 w 3474720"/>
              <a:gd name="connsiteY30" fmla="*/ 878388 h 1829364"/>
              <a:gd name="connsiteX31" fmla="*/ 3392424 w 3474720"/>
              <a:gd name="connsiteY31" fmla="*/ 1198428 h 1829364"/>
              <a:gd name="connsiteX32" fmla="*/ 3355848 w 3474720"/>
              <a:gd name="connsiteY32" fmla="*/ 1235004 h 1829364"/>
              <a:gd name="connsiteX33" fmla="*/ 3392424 w 3474720"/>
              <a:gd name="connsiteY33" fmla="*/ 1317300 h 1829364"/>
              <a:gd name="connsiteX34" fmla="*/ 3447288 w 3474720"/>
              <a:gd name="connsiteY34" fmla="*/ 1381308 h 1829364"/>
              <a:gd name="connsiteX35" fmla="*/ 3474720 w 3474720"/>
              <a:gd name="connsiteY35" fmla="*/ 1417884 h 1829364"/>
              <a:gd name="connsiteX36" fmla="*/ 3456432 w 3474720"/>
              <a:gd name="connsiteY36" fmla="*/ 1491036 h 1829364"/>
              <a:gd name="connsiteX37" fmla="*/ 3264408 w 3474720"/>
              <a:gd name="connsiteY37" fmla="*/ 1555044 h 1829364"/>
              <a:gd name="connsiteX38" fmla="*/ 2935224 w 3474720"/>
              <a:gd name="connsiteY38" fmla="*/ 1664772 h 1829364"/>
              <a:gd name="connsiteX39" fmla="*/ 2441448 w 3474720"/>
              <a:gd name="connsiteY39" fmla="*/ 1728780 h 1829364"/>
              <a:gd name="connsiteX40" fmla="*/ 2176272 w 3474720"/>
              <a:gd name="connsiteY40" fmla="*/ 1811076 h 1829364"/>
              <a:gd name="connsiteX41" fmla="*/ 2020824 w 3474720"/>
              <a:gd name="connsiteY41" fmla="*/ 1829364 h 1829364"/>
              <a:gd name="connsiteX42" fmla="*/ 1792224 w 3474720"/>
              <a:gd name="connsiteY42" fmla="*/ 1783644 h 1829364"/>
              <a:gd name="connsiteX43" fmla="*/ 1673352 w 3474720"/>
              <a:gd name="connsiteY43" fmla="*/ 1756212 h 1829364"/>
              <a:gd name="connsiteX44" fmla="*/ 1261872 w 3474720"/>
              <a:gd name="connsiteY44" fmla="*/ 1774500 h 1829364"/>
              <a:gd name="connsiteX45" fmla="*/ 676656 w 3474720"/>
              <a:gd name="connsiteY45" fmla="*/ 1719636 h 1829364"/>
              <a:gd name="connsiteX46" fmla="*/ 521208 w 3474720"/>
              <a:gd name="connsiteY46" fmla="*/ 1600764 h 1829364"/>
              <a:gd name="connsiteX47" fmla="*/ 438912 w 3474720"/>
              <a:gd name="connsiteY47" fmla="*/ 1518468 h 1829364"/>
              <a:gd name="connsiteX48" fmla="*/ 310896 w 3474720"/>
              <a:gd name="connsiteY48" fmla="*/ 1445316 h 1829364"/>
              <a:gd name="connsiteX49" fmla="*/ 210312 w 3474720"/>
              <a:gd name="connsiteY49" fmla="*/ 1207572 h 1829364"/>
              <a:gd name="connsiteX50" fmla="*/ 201168 w 3474720"/>
              <a:gd name="connsiteY50" fmla="*/ 1180140 h 1829364"/>
              <a:gd name="connsiteX51" fmla="*/ 173736 w 3474720"/>
              <a:gd name="connsiteY51" fmla="*/ 1088700 h 182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474720" h="1829364">
                <a:moveTo>
                  <a:pt x="173736" y="1088700"/>
                </a:moveTo>
                <a:cubicBezTo>
                  <a:pt x="151884" y="957589"/>
                  <a:pt x="185469" y="1117760"/>
                  <a:pt x="82296" y="896676"/>
                </a:cubicBezTo>
                <a:cubicBezTo>
                  <a:pt x="42176" y="810704"/>
                  <a:pt x="40089" y="780594"/>
                  <a:pt x="27432" y="704652"/>
                </a:cubicBezTo>
                <a:cubicBezTo>
                  <a:pt x="39624" y="692460"/>
                  <a:pt x="66446" y="685145"/>
                  <a:pt x="64008" y="668076"/>
                </a:cubicBezTo>
                <a:cubicBezTo>
                  <a:pt x="58981" y="632888"/>
                  <a:pt x="24176" y="608847"/>
                  <a:pt x="9144" y="576636"/>
                </a:cubicBezTo>
                <a:cubicBezTo>
                  <a:pt x="2572" y="562552"/>
                  <a:pt x="3048" y="546156"/>
                  <a:pt x="0" y="530916"/>
                </a:cubicBezTo>
                <a:cubicBezTo>
                  <a:pt x="63398" y="404119"/>
                  <a:pt x="-32918" y="578465"/>
                  <a:pt x="54864" y="476052"/>
                </a:cubicBezTo>
                <a:cubicBezTo>
                  <a:pt x="65546" y="463590"/>
                  <a:pt x="60542" y="440840"/>
                  <a:pt x="73152" y="430332"/>
                </a:cubicBezTo>
                <a:cubicBezTo>
                  <a:pt x="226319" y="302693"/>
                  <a:pt x="171742" y="373628"/>
                  <a:pt x="274320" y="311460"/>
                </a:cubicBezTo>
                <a:cubicBezTo>
                  <a:pt x="357488" y="261055"/>
                  <a:pt x="462858" y="233812"/>
                  <a:pt x="521208" y="156012"/>
                </a:cubicBezTo>
                <a:lnTo>
                  <a:pt x="548640" y="119436"/>
                </a:lnTo>
                <a:cubicBezTo>
                  <a:pt x="545592" y="104196"/>
                  <a:pt x="525830" y="81118"/>
                  <a:pt x="539496" y="73716"/>
                </a:cubicBezTo>
                <a:cubicBezTo>
                  <a:pt x="722529" y="-25427"/>
                  <a:pt x="740388" y="-3130"/>
                  <a:pt x="905256" y="18852"/>
                </a:cubicBezTo>
                <a:cubicBezTo>
                  <a:pt x="926592" y="37140"/>
                  <a:pt x="945331" y="58988"/>
                  <a:pt x="969264" y="73716"/>
                </a:cubicBezTo>
                <a:cubicBezTo>
                  <a:pt x="996175" y="90277"/>
                  <a:pt x="1048914" y="96135"/>
                  <a:pt x="1078992" y="101148"/>
                </a:cubicBezTo>
                <a:lnTo>
                  <a:pt x="1517904" y="82860"/>
                </a:lnTo>
                <a:cubicBezTo>
                  <a:pt x="1679509" y="74860"/>
                  <a:pt x="1840886" y="48400"/>
                  <a:pt x="2002536" y="55428"/>
                </a:cubicBezTo>
                <a:cubicBezTo>
                  <a:pt x="2536595" y="78648"/>
                  <a:pt x="1862264" y="113608"/>
                  <a:pt x="2240280" y="165156"/>
                </a:cubicBezTo>
                <a:lnTo>
                  <a:pt x="2441448" y="192588"/>
                </a:lnTo>
                <a:cubicBezTo>
                  <a:pt x="2459736" y="204780"/>
                  <a:pt x="2480770" y="213622"/>
                  <a:pt x="2496312" y="229164"/>
                </a:cubicBezTo>
                <a:cubicBezTo>
                  <a:pt x="2519955" y="252807"/>
                  <a:pt x="2549012" y="339411"/>
                  <a:pt x="2560320" y="357180"/>
                </a:cubicBezTo>
                <a:cubicBezTo>
                  <a:pt x="2574735" y="379833"/>
                  <a:pt x="2613672" y="379332"/>
                  <a:pt x="2633472" y="384612"/>
                </a:cubicBezTo>
                <a:cubicBezTo>
                  <a:pt x="2677740" y="396417"/>
                  <a:pt x="2750314" y="422374"/>
                  <a:pt x="2798064" y="430332"/>
                </a:cubicBezTo>
                <a:cubicBezTo>
                  <a:pt x="2828279" y="435368"/>
                  <a:pt x="2859024" y="436428"/>
                  <a:pt x="2889504" y="439476"/>
                </a:cubicBezTo>
                <a:cubicBezTo>
                  <a:pt x="2915843" y="460547"/>
                  <a:pt x="2954799" y="496949"/>
                  <a:pt x="2990088" y="503484"/>
                </a:cubicBezTo>
                <a:cubicBezTo>
                  <a:pt x="3053311" y="515192"/>
                  <a:pt x="3118208" y="514672"/>
                  <a:pt x="3182112" y="521772"/>
                </a:cubicBezTo>
                <a:cubicBezTo>
                  <a:pt x="3200539" y="523819"/>
                  <a:pt x="3218688" y="527868"/>
                  <a:pt x="3236976" y="530916"/>
                </a:cubicBezTo>
                <a:cubicBezTo>
                  <a:pt x="3244066" y="534067"/>
                  <a:pt x="3356372" y="582489"/>
                  <a:pt x="3374136" y="594924"/>
                </a:cubicBezTo>
                <a:cubicBezTo>
                  <a:pt x="3388261" y="604812"/>
                  <a:pt x="3398520" y="619308"/>
                  <a:pt x="3410712" y="631500"/>
                </a:cubicBezTo>
                <a:cubicBezTo>
                  <a:pt x="3433386" y="699521"/>
                  <a:pt x="3429000" y="678548"/>
                  <a:pt x="3429000" y="805236"/>
                </a:cubicBezTo>
                <a:cubicBezTo>
                  <a:pt x="3429000" y="829810"/>
                  <a:pt x="3422132" y="853920"/>
                  <a:pt x="3419856" y="878388"/>
                </a:cubicBezTo>
                <a:cubicBezTo>
                  <a:pt x="3409939" y="984999"/>
                  <a:pt x="3411340" y="1093041"/>
                  <a:pt x="3392424" y="1198428"/>
                </a:cubicBezTo>
                <a:cubicBezTo>
                  <a:pt x="3389378" y="1215399"/>
                  <a:pt x="3368040" y="1222812"/>
                  <a:pt x="3355848" y="1235004"/>
                </a:cubicBezTo>
                <a:cubicBezTo>
                  <a:pt x="3368040" y="1262436"/>
                  <a:pt x="3376514" y="1291844"/>
                  <a:pt x="3392424" y="1317300"/>
                </a:cubicBezTo>
                <a:cubicBezTo>
                  <a:pt x="3407318" y="1341130"/>
                  <a:pt x="3429493" y="1359559"/>
                  <a:pt x="3447288" y="1381308"/>
                </a:cubicBezTo>
                <a:cubicBezTo>
                  <a:pt x="3456939" y="1393103"/>
                  <a:pt x="3465576" y="1405692"/>
                  <a:pt x="3474720" y="1417884"/>
                </a:cubicBezTo>
                <a:cubicBezTo>
                  <a:pt x="3468624" y="1442268"/>
                  <a:pt x="3477485" y="1477306"/>
                  <a:pt x="3456432" y="1491036"/>
                </a:cubicBezTo>
                <a:cubicBezTo>
                  <a:pt x="3399918" y="1527893"/>
                  <a:pt x="3327754" y="1531817"/>
                  <a:pt x="3264408" y="1555044"/>
                </a:cubicBezTo>
                <a:cubicBezTo>
                  <a:pt x="3085946" y="1620480"/>
                  <a:pt x="3064594" y="1647523"/>
                  <a:pt x="2935224" y="1664772"/>
                </a:cubicBezTo>
                <a:lnTo>
                  <a:pt x="2441448" y="1728780"/>
                </a:lnTo>
                <a:cubicBezTo>
                  <a:pt x="2344784" y="1765029"/>
                  <a:pt x="2294107" y="1786269"/>
                  <a:pt x="2176272" y="1811076"/>
                </a:cubicBezTo>
                <a:cubicBezTo>
                  <a:pt x="2125218" y="1821824"/>
                  <a:pt x="2072640" y="1823268"/>
                  <a:pt x="2020824" y="1829364"/>
                </a:cubicBezTo>
                <a:lnTo>
                  <a:pt x="1792224" y="1783644"/>
                </a:lnTo>
                <a:cubicBezTo>
                  <a:pt x="1752431" y="1775267"/>
                  <a:pt x="1714011" y="1756913"/>
                  <a:pt x="1673352" y="1756212"/>
                </a:cubicBezTo>
                <a:cubicBezTo>
                  <a:pt x="1536077" y="1753845"/>
                  <a:pt x="1399032" y="1768404"/>
                  <a:pt x="1261872" y="1774500"/>
                </a:cubicBezTo>
                <a:cubicBezTo>
                  <a:pt x="1066800" y="1756212"/>
                  <a:pt x="869423" y="1754685"/>
                  <a:pt x="676656" y="1719636"/>
                </a:cubicBezTo>
                <a:cubicBezTo>
                  <a:pt x="576535" y="1701432"/>
                  <a:pt x="572010" y="1655474"/>
                  <a:pt x="521208" y="1600764"/>
                </a:cubicBezTo>
                <a:cubicBezTo>
                  <a:pt x="494810" y="1572335"/>
                  <a:pt x="470110" y="1541527"/>
                  <a:pt x="438912" y="1518468"/>
                </a:cubicBezTo>
                <a:cubicBezTo>
                  <a:pt x="399389" y="1489255"/>
                  <a:pt x="353568" y="1469700"/>
                  <a:pt x="310896" y="1445316"/>
                </a:cubicBezTo>
                <a:cubicBezTo>
                  <a:pt x="228874" y="1308612"/>
                  <a:pt x="267886" y="1389889"/>
                  <a:pt x="210312" y="1207572"/>
                </a:cubicBezTo>
                <a:cubicBezTo>
                  <a:pt x="207410" y="1198381"/>
                  <a:pt x="203058" y="1189591"/>
                  <a:pt x="201168" y="1180140"/>
                </a:cubicBezTo>
                <a:lnTo>
                  <a:pt x="173736" y="108870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9F05C7E-677E-F61D-9FFA-010ACEB8801F}"/>
              </a:ext>
            </a:extLst>
          </p:cNvPr>
          <p:cNvSpPr/>
          <p:nvPr/>
        </p:nvSpPr>
        <p:spPr>
          <a:xfrm>
            <a:off x="8168642" y="1260716"/>
            <a:ext cx="3130620" cy="1857864"/>
          </a:xfrm>
          <a:custGeom>
            <a:avLst/>
            <a:gdLst>
              <a:gd name="connsiteX0" fmla="*/ 73152 w 3130620"/>
              <a:gd name="connsiteY0" fmla="*/ 38208 h 1857864"/>
              <a:gd name="connsiteX1" fmla="*/ 18288 w 3130620"/>
              <a:gd name="connsiteY1" fmla="*/ 175368 h 1857864"/>
              <a:gd name="connsiteX2" fmla="*/ 36576 w 3130620"/>
              <a:gd name="connsiteY2" fmla="*/ 257664 h 1857864"/>
              <a:gd name="connsiteX3" fmla="*/ 91440 w 3130620"/>
              <a:gd name="connsiteY3" fmla="*/ 367392 h 1857864"/>
              <a:gd name="connsiteX4" fmla="*/ 109728 w 3130620"/>
              <a:gd name="connsiteY4" fmla="*/ 413112 h 1857864"/>
              <a:gd name="connsiteX5" fmla="*/ 100584 w 3130620"/>
              <a:gd name="connsiteY5" fmla="*/ 477120 h 1857864"/>
              <a:gd name="connsiteX6" fmla="*/ 27432 w 3130620"/>
              <a:gd name="connsiteY6" fmla="*/ 605136 h 1857864"/>
              <a:gd name="connsiteX7" fmla="*/ 0 w 3130620"/>
              <a:gd name="connsiteY7" fmla="*/ 669144 h 1857864"/>
              <a:gd name="connsiteX8" fmla="*/ 36576 w 3130620"/>
              <a:gd name="connsiteY8" fmla="*/ 1519536 h 1857864"/>
              <a:gd name="connsiteX9" fmla="*/ 54864 w 3130620"/>
              <a:gd name="connsiteY9" fmla="*/ 1610976 h 1857864"/>
              <a:gd name="connsiteX10" fmla="*/ 91440 w 3130620"/>
              <a:gd name="connsiteY10" fmla="*/ 1729848 h 1857864"/>
              <a:gd name="connsiteX11" fmla="*/ 146304 w 3130620"/>
              <a:gd name="connsiteY11" fmla="*/ 1748136 h 1857864"/>
              <a:gd name="connsiteX12" fmla="*/ 320040 w 3130620"/>
              <a:gd name="connsiteY12" fmla="*/ 1857864 h 1857864"/>
              <a:gd name="connsiteX13" fmla="*/ 402336 w 3130620"/>
              <a:gd name="connsiteY13" fmla="*/ 1830432 h 1857864"/>
              <a:gd name="connsiteX14" fmla="*/ 832104 w 3130620"/>
              <a:gd name="connsiteY14" fmla="*/ 1830432 h 1857864"/>
              <a:gd name="connsiteX15" fmla="*/ 1207008 w 3130620"/>
              <a:gd name="connsiteY15" fmla="*/ 1812144 h 1857864"/>
              <a:gd name="connsiteX16" fmla="*/ 1545336 w 3130620"/>
              <a:gd name="connsiteY16" fmla="*/ 1766424 h 1857864"/>
              <a:gd name="connsiteX17" fmla="*/ 1993392 w 3130620"/>
              <a:gd name="connsiteY17" fmla="*/ 1748136 h 1857864"/>
              <a:gd name="connsiteX18" fmla="*/ 2468880 w 3130620"/>
              <a:gd name="connsiteY18" fmla="*/ 1757280 h 1857864"/>
              <a:gd name="connsiteX19" fmla="*/ 2596896 w 3130620"/>
              <a:gd name="connsiteY19" fmla="*/ 1766424 h 1857864"/>
              <a:gd name="connsiteX20" fmla="*/ 2679192 w 3130620"/>
              <a:gd name="connsiteY20" fmla="*/ 1784712 h 1857864"/>
              <a:gd name="connsiteX21" fmla="*/ 2852928 w 3130620"/>
              <a:gd name="connsiteY21" fmla="*/ 1803000 h 1857864"/>
              <a:gd name="connsiteX22" fmla="*/ 3063240 w 3130620"/>
              <a:gd name="connsiteY22" fmla="*/ 1793856 h 1857864"/>
              <a:gd name="connsiteX23" fmla="*/ 3090672 w 3130620"/>
              <a:gd name="connsiteY23" fmla="*/ 1757280 h 1857864"/>
              <a:gd name="connsiteX24" fmla="*/ 3081528 w 3130620"/>
              <a:gd name="connsiteY24" fmla="*/ 1629264 h 1857864"/>
              <a:gd name="connsiteX25" fmla="*/ 3035808 w 3130620"/>
              <a:gd name="connsiteY25" fmla="*/ 1546968 h 1857864"/>
              <a:gd name="connsiteX26" fmla="*/ 3008376 w 3130620"/>
              <a:gd name="connsiteY26" fmla="*/ 1473816 h 1857864"/>
              <a:gd name="connsiteX27" fmla="*/ 3017520 w 3130620"/>
              <a:gd name="connsiteY27" fmla="*/ 1437240 h 1857864"/>
              <a:gd name="connsiteX28" fmla="*/ 3090672 w 3130620"/>
              <a:gd name="connsiteY28" fmla="*/ 1382376 h 1857864"/>
              <a:gd name="connsiteX29" fmla="*/ 3118104 w 3130620"/>
              <a:gd name="connsiteY29" fmla="*/ 1354944 h 1857864"/>
              <a:gd name="connsiteX30" fmla="*/ 3090672 w 3130620"/>
              <a:gd name="connsiteY30" fmla="*/ 1108056 h 1857864"/>
              <a:gd name="connsiteX31" fmla="*/ 3026664 w 3130620"/>
              <a:gd name="connsiteY31" fmla="*/ 1034904 h 1857864"/>
              <a:gd name="connsiteX32" fmla="*/ 2990088 w 3130620"/>
              <a:gd name="connsiteY32" fmla="*/ 916032 h 1857864"/>
              <a:gd name="connsiteX33" fmla="*/ 2935224 w 3130620"/>
              <a:gd name="connsiteY33" fmla="*/ 824592 h 1857864"/>
              <a:gd name="connsiteX34" fmla="*/ 2916936 w 3130620"/>
              <a:gd name="connsiteY34" fmla="*/ 568560 h 1857864"/>
              <a:gd name="connsiteX35" fmla="*/ 2852928 w 3130620"/>
              <a:gd name="connsiteY35" fmla="*/ 550272 h 1857864"/>
              <a:gd name="connsiteX36" fmla="*/ 2606040 w 3130620"/>
              <a:gd name="connsiteY36" fmla="*/ 531984 h 1857864"/>
              <a:gd name="connsiteX37" fmla="*/ 2496312 w 3130620"/>
              <a:gd name="connsiteY37" fmla="*/ 458832 h 1857864"/>
              <a:gd name="connsiteX38" fmla="*/ 2404872 w 3130620"/>
              <a:gd name="connsiteY38" fmla="*/ 403968 h 1857864"/>
              <a:gd name="connsiteX39" fmla="*/ 2203704 w 3130620"/>
              <a:gd name="connsiteY39" fmla="*/ 358248 h 1857864"/>
              <a:gd name="connsiteX40" fmla="*/ 1993392 w 3130620"/>
              <a:gd name="connsiteY40" fmla="*/ 312528 h 1857864"/>
              <a:gd name="connsiteX41" fmla="*/ 1920240 w 3130620"/>
              <a:gd name="connsiteY41" fmla="*/ 266808 h 1857864"/>
              <a:gd name="connsiteX42" fmla="*/ 1700784 w 3130620"/>
              <a:gd name="connsiteY42" fmla="*/ 129648 h 1857864"/>
              <a:gd name="connsiteX43" fmla="*/ 1673352 w 3130620"/>
              <a:gd name="connsiteY43" fmla="*/ 93072 h 1857864"/>
              <a:gd name="connsiteX44" fmla="*/ 1380744 w 3130620"/>
              <a:gd name="connsiteY44" fmla="*/ 10776 h 1857864"/>
              <a:gd name="connsiteX45" fmla="*/ 1197864 w 3130620"/>
              <a:gd name="connsiteY45" fmla="*/ 19920 h 1857864"/>
              <a:gd name="connsiteX46" fmla="*/ 1124712 w 3130620"/>
              <a:gd name="connsiteY46" fmla="*/ 56496 h 1857864"/>
              <a:gd name="connsiteX47" fmla="*/ 1033272 w 3130620"/>
              <a:gd name="connsiteY47" fmla="*/ 93072 h 1857864"/>
              <a:gd name="connsiteX48" fmla="*/ 749808 w 3130620"/>
              <a:gd name="connsiteY48" fmla="*/ 175368 h 1857864"/>
              <a:gd name="connsiteX49" fmla="*/ 292608 w 3130620"/>
              <a:gd name="connsiteY49" fmla="*/ 65640 h 1857864"/>
              <a:gd name="connsiteX50" fmla="*/ 182880 w 3130620"/>
              <a:gd name="connsiteY50" fmla="*/ 83928 h 1857864"/>
              <a:gd name="connsiteX51" fmla="*/ 73152 w 3130620"/>
              <a:gd name="connsiteY51" fmla="*/ 38208 h 185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130620" h="1857864">
                <a:moveTo>
                  <a:pt x="73152" y="38208"/>
                </a:moveTo>
                <a:cubicBezTo>
                  <a:pt x="45720" y="53448"/>
                  <a:pt x="21417" y="115922"/>
                  <a:pt x="18288" y="175368"/>
                </a:cubicBezTo>
                <a:cubicBezTo>
                  <a:pt x="16811" y="203430"/>
                  <a:pt x="26572" y="231404"/>
                  <a:pt x="36576" y="257664"/>
                </a:cubicBezTo>
                <a:cubicBezTo>
                  <a:pt x="51134" y="295878"/>
                  <a:pt x="74028" y="330391"/>
                  <a:pt x="91440" y="367392"/>
                </a:cubicBezTo>
                <a:cubicBezTo>
                  <a:pt x="98429" y="382244"/>
                  <a:pt x="103632" y="397872"/>
                  <a:pt x="109728" y="413112"/>
                </a:cubicBezTo>
                <a:cubicBezTo>
                  <a:pt x="106680" y="434448"/>
                  <a:pt x="109074" y="457310"/>
                  <a:pt x="100584" y="477120"/>
                </a:cubicBezTo>
                <a:cubicBezTo>
                  <a:pt x="81224" y="522294"/>
                  <a:pt x="50237" y="561600"/>
                  <a:pt x="27432" y="605136"/>
                </a:cubicBezTo>
                <a:cubicBezTo>
                  <a:pt x="16661" y="625699"/>
                  <a:pt x="9144" y="647808"/>
                  <a:pt x="0" y="669144"/>
                </a:cubicBezTo>
                <a:cubicBezTo>
                  <a:pt x="60305" y="1211890"/>
                  <a:pt x="288" y="600229"/>
                  <a:pt x="36576" y="1519536"/>
                </a:cubicBezTo>
                <a:cubicBezTo>
                  <a:pt x="37802" y="1550595"/>
                  <a:pt x="50253" y="1580236"/>
                  <a:pt x="54864" y="1610976"/>
                </a:cubicBezTo>
                <a:cubicBezTo>
                  <a:pt x="62527" y="1662062"/>
                  <a:pt x="43516" y="1703224"/>
                  <a:pt x="91440" y="1729848"/>
                </a:cubicBezTo>
                <a:cubicBezTo>
                  <a:pt x="108291" y="1739210"/>
                  <a:pt x="128016" y="1742040"/>
                  <a:pt x="146304" y="1748136"/>
                </a:cubicBezTo>
                <a:cubicBezTo>
                  <a:pt x="300551" y="1854181"/>
                  <a:pt x="236464" y="1830005"/>
                  <a:pt x="320040" y="1857864"/>
                </a:cubicBezTo>
                <a:cubicBezTo>
                  <a:pt x="347472" y="1848720"/>
                  <a:pt x="373607" y="1833715"/>
                  <a:pt x="402336" y="1830432"/>
                </a:cubicBezTo>
                <a:cubicBezTo>
                  <a:pt x="562783" y="1812095"/>
                  <a:pt x="675059" y="1822954"/>
                  <a:pt x="832104" y="1830432"/>
                </a:cubicBezTo>
                <a:cubicBezTo>
                  <a:pt x="957072" y="1824336"/>
                  <a:pt x="1082390" y="1823304"/>
                  <a:pt x="1207008" y="1812144"/>
                </a:cubicBezTo>
                <a:cubicBezTo>
                  <a:pt x="1474109" y="1788224"/>
                  <a:pt x="1366546" y="1775364"/>
                  <a:pt x="1545336" y="1766424"/>
                </a:cubicBezTo>
                <a:lnTo>
                  <a:pt x="1993392" y="1748136"/>
                </a:lnTo>
                <a:lnTo>
                  <a:pt x="2468880" y="1757280"/>
                </a:lnTo>
                <a:cubicBezTo>
                  <a:pt x="2511641" y="1758576"/>
                  <a:pt x="2554475" y="1760891"/>
                  <a:pt x="2596896" y="1766424"/>
                </a:cubicBezTo>
                <a:cubicBezTo>
                  <a:pt x="2624761" y="1770059"/>
                  <a:pt x="2651373" y="1780738"/>
                  <a:pt x="2679192" y="1784712"/>
                </a:cubicBezTo>
                <a:cubicBezTo>
                  <a:pt x="2736839" y="1792947"/>
                  <a:pt x="2795016" y="1796904"/>
                  <a:pt x="2852928" y="1803000"/>
                </a:cubicBezTo>
                <a:cubicBezTo>
                  <a:pt x="2923032" y="1799952"/>
                  <a:pt x="2994332" y="1807107"/>
                  <a:pt x="3063240" y="1793856"/>
                </a:cubicBezTo>
                <a:cubicBezTo>
                  <a:pt x="3078206" y="1790978"/>
                  <a:pt x="3088989" y="1772427"/>
                  <a:pt x="3090672" y="1757280"/>
                </a:cubicBezTo>
                <a:cubicBezTo>
                  <a:pt x="3095396" y="1714761"/>
                  <a:pt x="3092327" y="1670659"/>
                  <a:pt x="3081528" y="1629264"/>
                </a:cubicBezTo>
                <a:cubicBezTo>
                  <a:pt x="3073607" y="1598899"/>
                  <a:pt x="3049170" y="1575362"/>
                  <a:pt x="3035808" y="1546968"/>
                </a:cubicBezTo>
                <a:cubicBezTo>
                  <a:pt x="3024719" y="1523405"/>
                  <a:pt x="3017520" y="1498200"/>
                  <a:pt x="3008376" y="1473816"/>
                </a:cubicBezTo>
                <a:cubicBezTo>
                  <a:pt x="3011424" y="1461624"/>
                  <a:pt x="3009113" y="1446581"/>
                  <a:pt x="3017520" y="1437240"/>
                </a:cubicBezTo>
                <a:cubicBezTo>
                  <a:pt x="3037910" y="1414584"/>
                  <a:pt x="3067082" y="1401677"/>
                  <a:pt x="3090672" y="1382376"/>
                </a:cubicBezTo>
                <a:cubicBezTo>
                  <a:pt x="3100680" y="1374187"/>
                  <a:pt x="3108960" y="1364088"/>
                  <a:pt x="3118104" y="1354944"/>
                </a:cubicBezTo>
                <a:cubicBezTo>
                  <a:pt x="3134512" y="1256498"/>
                  <a:pt x="3142836" y="1245579"/>
                  <a:pt x="3090672" y="1108056"/>
                </a:cubicBezTo>
                <a:cubicBezTo>
                  <a:pt x="3079181" y="1077761"/>
                  <a:pt x="3048000" y="1059288"/>
                  <a:pt x="3026664" y="1034904"/>
                </a:cubicBezTo>
                <a:cubicBezTo>
                  <a:pt x="3014472" y="995280"/>
                  <a:pt x="3006618" y="954051"/>
                  <a:pt x="2990088" y="916032"/>
                </a:cubicBezTo>
                <a:cubicBezTo>
                  <a:pt x="2975915" y="883434"/>
                  <a:pt x="2946966" y="858142"/>
                  <a:pt x="2935224" y="824592"/>
                </a:cubicBezTo>
                <a:cubicBezTo>
                  <a:pt x="2890721" y="697440"/>
                  <a:pt x="2981400" y="729720"/>
                  <a:pt x="2916936" y="568560"/>
                </a:cubicBezTo>
                <a:cubicBezTo>
                  <a:pt x="2908695" y="547957"/>
                  <a:pt x="2874264" y="556368"/>
                  <a:pt x="2852928" y="550272"/>
                </a:cubicBezTo>
                <a:cubicBezTo>
                  <a:pt x="2750885" y="556650"/>
                  <a:pt x="2697618" y="575782"/>
                  <a:pt x="2606040" y="531984"/>
                </a:cubicBezTo>
                <a:cubicBezTo>
                  <a:pt x="2566383" y="513018"/>
                  <a:pt x="2532225" y="484182"/>
                  <a:pt x="2496312" y="458832"/>
                </a:cubicBezTo>
                <a:cubicBezTo>
                  <a:pt x="2449360" y="425689"/>
                  <a:pt x="2458970" y="417993"/>
                  <a:pt x="2404872" y="403968"/>
                </a:cubicBezTo>
                <a:cubicBezTo>
                  <a:pt x="2338307" y="386710"/>
                  <a:pt x="2270619" y="374096"/>
                  <a:pt x="2203704" y="358248"/>
                </a:cubicBezTo>
                <a:cubicBezTo>
                  <a:pt x="2013081" y="313100"/>
                  <a:pt x="2117201" y="330215"/>
                  <a:pt x="1993392" y="312528"/>
                </a:cubicBezTo>
                <a:cubicBezTo>
                  <a:pt x="1969008" y="297288"/>
                  <a:pt x="1943756" y="283356"/>
                  <a:pt x="1920240" y="266808"/>
                </a:cubicBezTo>
                <a:cubicBezTo>
                  <a:pt x="1721739" y="127122"/>
                  <a:pt x="1819690" y="153429"/>
                  <a:pt x="1700784" y="129648"/>
                </a:cubicBezTo>
                <a:cubicBezTo>
                  <a:pt x="1691640" y="117456"/>
                  <a:pt x="1681031" y="106236"/>
                  <a:pt x="1673352" y="93072"/>
                </a:cubicBezTo>
                <a:cubicBezTo>
                  <a:pt x="1585858" y="-56917"/>
                  <a:pt x="1703886" y="22317"/>
                  <a:pt x="1380744" y="10776"/>
                </a:cubicBezTo>
                <a:cubicBezTo>
                  <a:pt x="1319784" y="13824"/>
                  <a:pt x="1257950" y="9190"/>
                  <a:pt x="1197864" y="19920"/>
                </a:cubicBezTo>
                <a:cubicBezTo>
                  <a:pt x="1171026" y="24712"/>
                  <a:pt x="1149624" y="45424"/>
                  <a:pt x="1124712" y="56496"/>
                </a:cubicBezTo>
                <a:cubicBezTo>
                  <a:pt x="1094713" y="69829"/>
                  <a:pt x="1064294" y="82334"/>
                  <a:pt x="1033272" y="93072"/>
                </a:cubicBezTo>
                <a:cubicBezTo>
                  <a:pt x="922869" y="131288"/>
                  <a:pt x="861263" y="145647"/>
                  <a:pt x="749808" y="175368"/>
                </a:cubicBezTo>
                <a:cubicBezTo>
                  <a:pt x="570031" y="117583"/>
                  <a:pt x="476389" y="71045"/>
                  <a:pt x="292608" y="65640"/>
                </a:cubicBezTo>
                <a:cubicBezTo>
                  <a:pt x="255544" y="64550"/>
                  <a:pt x="219928" y="82384"/>
                  <a:pt x="182880" y="83928"/>
                </a:cubicBezTo>
                <a:cubicBezTo>
                  <a:pt x="146209" y="85456"/>
                  <a:pt x="100584" y="22968"/>
                  <a:pt x="73152" y="3820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2A44"/>
                </a:solidFill>
                <a:latin typeface="Aptos Display"/>
              </a:defRPr>
            </a:pPr>
            <a:r>
              <a:t>4. Business value, 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7E"/>
                </a:solidFill>
                <a:latin typeface="Aptos"/>
              </a:defRPr>
            </a:pPr>
            <a:r>
              <a:t>I treat this as a decision-support concept—not a validated automatic diagnosis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17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517904"/>
            <a:ext cx="3044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Potential 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1901952"/>
            <a:ext cx="304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Rank locations for inspection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Help schedule technicians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Support earlier investigation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Reduce avoidable visits if validated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517904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Main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90195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t>All 70 windows came from only two original recordings—one per class. Window-level splitting may produce overly optimistic scores.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517904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901952"/>
            <a:ext cx="3044952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E3541"/>
                </a:solidFill>
                <a:latin typeface="Aptos"/>
              </a:defRPr>
            </a:pPr>
            <a:r>
              <a:t>• Collect independent recordings</a:t>
            </a:r>
            <a:br/>
            <a:r>
              <a:t>• Split data by recording</a:t>
            </a:r>
            <a:br/>
            <a:r>
              <a:t>• Test other sensors and conditions</a:t>
            </a:r>
            <a:br/>
            <a:r>
              <a:t>• Verify sampling frequency</a:t>
            </a:r>
            <a:br/>
            <a:r>
              <a:t>• Validate field performance and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58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"/>
              </a:defRPr>
            </a:pPr>
            <a:r>
              <a:t>Illustrative scenario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794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E3541"/>
                </a:solidFill>
                <a:latin typeface="Aptos"/>
              </a:defRPr>
            </a:pPr>
            <a:r>
              <a:t>If monthly visits fell from 1,000 to 800 at ₹800 per visit, estimated spend would drop from ₹8,00,000 to ₹6,40,000—a hypothetical ₹1,60,000/month saving, not a measured outcome.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"/>
              </a:defRPr>
            </a:pPr>
            <a:r>
              <a:t>Conclusion: I found promising separation in the selected recordings, but recording-level validation is essential before operational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497</Words>
  <Application>Microsoft Office PowerPoint</Application>
  <PresentationFormat>Widescreen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Dang</cp:lastModifiedBy>
  <cp:revision>2</cp:revision>
  <dcterms:created xsi:type="dcterms:W3CDTF">2013-01-27T09:14:16Z</dcterms:created>
  <dcterms:modified xsi:type="dcterms:W3CDTF">2026-10-26T05:21:40Z</dcterms:modified>
  <cp:category/>
</cp:coreProperties>
</file>